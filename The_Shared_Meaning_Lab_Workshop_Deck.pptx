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917c77a0f54447c" /><Relationship Type="http://schemas.openxmlformats.org/officeDocument/2006/relationships/extended-properties" Target="/docProps/app.xml" Id="R985a6c1589144489" /><Relationship Type="http://schemas.openxmlformats.org/officeDocument/2006/relationships/officeDocument" Target="/ppt/presentation.xml" Id="Ra69815dee9824f2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7b507fad2ad4477"/>
  </p:sldMasterIdLst>
  <p:notesMasterIdLst>
    <p:notesMasterId xmlns:r="http://schemas.openxmlformats.org/officeDocument/2006/relationships" r:id="R1d046a108b7d40ac"/>
  </p:notesMasterIdLst>
  <p:sldIdLst>
    <p:sldId xmlns:r="http://schemas.openxmlformats.org/officeDocument/2006/relationships" id="256" r:id="R8f6d32e4edbd48a6"/>
    <p:sldId xmlns:r="http://schemas.openxmlformats.org/officeDocument/2006/relationships" id="257" r:id="Rb099b32b032e48b4"/>
    <p:sldId xmlns:r="http://schemas.openxmlformats.org/officeDocument/2006/relationships" id="258" r:id="R971bb651f8864c17"/>
    <p:sldId xmlns:r="http://schemas.openxmlformats.org/officeDocument/2006/relationships" id="259" r:id="Rcf9ed2d148a84dda"/>
    <p:sldId xmlns:r="http://schemas.openxmlformats.org/officeDocument/2006/relationships" id="260" r:id="R51d2de8637b54468"/>
    <p:sldId xmlns:r="http://schemas.openxmlformats.org/officeDocument/2006/relationships" id="261" r:id="R6567b6331cf54e9f"/>
    <p:sldId xmlns:r="http://schemas.openxmlformats.org/officeDocument/2006/relationships" id="262" r:id="R780fd0e6a72b47d3"/>
    <p:sldId xmlns:r="http://schemas.openxmlformats.org/officeDocument/2006/relationships" id="263" r:id="R9206984f18c74295"/>
    <p:sldId xmlns:r="http://schemas.openxmlformats.org/officeDocument/2006/relationships" id="264" r:id="Re76c0066e3ce4a9e"/>
    <p:sldId xmlns:r="http://schemas.openxmlformats.org/officeDocument/2006/relationships" id="265" r:id="Rfc25b00c63324d69"/>
    <p:sldId xmlns:r="http://schemas.openxmlformats.org/officeDocument/2006/relationships" id="266" r:id="Rd4408e14fa3e4a96"/>
    <p:sldId xmlns:r="http://schemas.openxmlformats.org/officeDocument/2006/relationships" id="267" r:id="R9c32b360560549e4"/>
    <p:sldId xmlns:r="http://schemas.openxmlformats.org/officeDocument/2006/relationships" id="268" r:id="Rb2774216c6d74ede"/>
    <p:sldId xmlns:r="http://schemas.openxmlformats.org/officeDocument/2006/relationships" id="269" r:id="R170d62e8eb9044ac"/>
    <p:sldId xmlns:r="http://schemas.openxmlformats.org/officeDocument/2006/relationships" id="270" r:id="Ra903869ce53d412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222c6951df9493c" /><Relationship Type="http://schemas.openxmlformats.org/officeDocument/2006/relationships/slideMaster" Target="/ppt/slideMasters/slideMaster1.xml" Id="Rf7b507fad2ad4477" /><Relationship Type="http://schemas.openxmlformats.org/officeDocument/2006/relationships/notesMaster" Target="/ppt/notesMasters/notesMaster1.xml" Id="R1d046a108b7d40ac" /><Relationship Type="http://schemas.openxmlformats.org/officeDocument/2006/relationships/presProps" Target="/ppt/presProps.xml" Id="R9523ed5310c34733" /><Relationship Type="http://schemas.openxmlformats.org/officeDocument/2006/relationships/tableStyles" Target="/ppt/tableStyles.xml" Id="R579bcf5a82a942c2" /><Relationship Type="http://schemas.openxmlformats.org/officeDocument/2006/relationships/slide" Target="/ppt/slides/slide1.xml" Id="R8f6d32e4edbd48a6" /><Relationship Type="http://schemas.openxmlformats.org/officeDocument/2006/relationships/slide" Target="/ppt/slides/slide2.xml" Id="Rb099b32b032e48b4" /><Relationship Type="http://schemas.openxmlformats.org/officeDocument/2006/relationships/slide" Target="/ppt/slides/slide3.xml" Id="R971bb651f8864c17" /><Relationship Type="http://schemas.openxmlformats.org/officeDocument/2006/relationships/slide" Target="/ppt/slides/slide4.xml" Id="Rcf9ed2d148a84dda" /><Relationship Type="http://schemas.openxmlformats.org/officeDocument/2006/relationships/slide" Target="/ppt/slides/slide5.xml" Id="R51d2de8637b54468" /><Relationship Type="http://schemas.openxmlformats.org/officeDocument/2006/relationships/slide" Target="/ppt/slides/slide6.xml" Id="R6567b6331cf54e9f" /><Relationship Type="http://schemas.openxmlformats.org/officeDocument/2006/relationships/slide" Target="/ppt/slides/slide7.xml" Id="R780fd0e6a72b47d3" /><Relationship Type="http://schemas.openxmlformats.org/officeDocument/2006/relationships/slide" Target="/ppt/slides/slide8.xml" Id="R9206984f18c74295" /><Relationship Type="http://schemas.openxmlformats.org/officeDocument/2006/relationships/slide" Target="/ppt/slides/slide9.xml" Id="Re76c0066e3ce4a9e" /><Relationship Type="http://schemas.openxmlformats.org/officeDocument/2006/relationships/slide" Target="/ppt/slides/slide10.xml" Id="Rfc25b00c63324d69" /><Relationship Type="http://schemas.openxmlformats.org/officeDocument/2006/relationships/slide" Target="/ppt/slides/slide11.xml" Id="Rd4408e14fa3e4a96" /><Relationship Type="http://schemas.openxmlformats.org/officeDocument/2006/relationships/slide" Target="/ppt/slides/slide12.xml" Id="R9c32b360560549e4" /><Relationship Type="http://schemas.openxmlformats.org/officeDocument/2006/relationships/slide" Target="/ppt/slides/slide13.xml" Id="Rb2774216c6d74ede" /><Relationship Type="http://schemas.openxmlformats.org/officeDocument/2006/relationships/slide" Target="/ppt/slides/slide14.xml" Id="R170d62e8eb9044ac" /><Relationship Type="http://schemas.openxmlformats.org/officeDocument/2006/relationships/slide" Target="/ppt/slides/slide15.xml" Id="Ra903869ce53d412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8088fb49ed6424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c07aa7540884a02" /><Relationship Type="http://schemas.openxmlformats.org/officeDocument/2006/relationships/notesMaster" Target="/ppt/notesMasters/notesMaster1.xml" Id="R959803bc00824b9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18c6d020c3043cf" /><Relationship Type="http://schemas.openxmlformats.org/officeDocument/2006/relationships/notesMaster" Target="/ppt/notesMasters/notesMaster1.xml" Id="Rd1f7a6f7bc3d43a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4c1e558f89f40c7" /><Relationship Type="http://schemas.openxmlformats.org/officeDocument/2006/relationships/notesMaster" Target="/ppt/notesMasters/notesMaster1.xml" Id="R58fdb7c3fa6042a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2ff1bba31f84096" /><Relationship Type="http://schemas.openxmlformats.org/officeDocument/2006/relationships/notesMaster" Target="/ppt/notesMasters/notesMaster1.xml" Id="R8c6af2f7fe214b6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c4779a8eebb49e9" /><Relationship Type="http://schemas.openxmlformats.org/officeDocument/2006/relationships/notesMaster" Target="/ppt/notesMasters/notesMaster1.xml" Id="R2179a243d1a5482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31bd9d6198d4161" /><Relationship Type="http://schemas.openxmlformats.org/officeDocument/2006/relationships/notesMaster" Target="/ppt/notesMasters/notesMaster1.xml" Id="Rf0988f08778a49f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7861c126fa343bb" /><Relationship Type="http://schemas.openxmlformats.org/officeDocument/2006/relationships/notesMaster" Target="/ppt/notesMasters/notesMaster1.xml" Id="Rb3cae71e4273498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f0bfd6b4aea40c4" /><Relationship Type="http://schemas.openxmlformats.org/officeDocument/2006/relationships/notesMaster" Target="/ppt/notesMasters/notesMaster1.xml" Id="R761d4986fb6d49b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304803eb96c45c3" /><Relationship Type="http://schemas.openxmlformats.org/officeDocument/2006/relationships/notesMaster" Target="/ppt/notesMasters/notesMaster1.xml" Id="R11661b9e28364c7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812b3c522524420" /><Relationship Type="http://schemas.openxmlformats.org/officeDocument/2006/relationships/notesMaster" Target="/ppt/notesMasters/notesMaster1.xml" Id="R970d52f7e7ad4c5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8b84103c3d44eb5" /><Relationship Type="http://schemas.openxmlformats.org/officeDocument/2006/relationships/notesMaster" Target="/ppt/notesMasters/notesMaster1.xml" Id="R324f56db918648c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205eb311cab4fe6" /><Relationship Type="http://schemas.openxmlformats.org/officeDocument/2006/relationships/notesMaster" Target="/ppt/notesMasters/notesMaster1.xml" Id="R9bc2f8903898468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1ac015a2ee142e4" /><Relationship Type="http://schemas.openxmlformats.org/officeDocument/2006/relationships/notesMaster" Target="/ppt/notesMasters/notesMaster1.xml" Id="R4cc0604ab31b4bf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ed285f997434145" /><Relationship Type="http://schemas.openxmlformats.org/officeDocument/2006/relationships/notesMaster" Target="/ppt/notesMasters/notesMaster1.xml" Id="R998bf5a050574a4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09ca947b6d64205" /><Relationship Type="http://schemas.openxmlformats.org/officeDocument/2006/relationships/notesMaster" Target="/ppt/notesMasters/notesMaster1.xml" Id="Raf7d8c0a6313437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Welcome to the Shared Meaning Lab. Today we stop blaming people and start engineering communication.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Facilitation: Ask: ‘Who has ever delivered exactly what was requested—and still been told it was wrong?’ Take two fast hands or chat reactions.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Build / animation: Title first; squiggle side appears; blueprint side snaps into view; reveal the unit-contract hook last.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Original workshop content and generated illustration; no external source.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receiver did not fail to understand a complete instruction. The instruction was incomplete, so the receiver completed it with assumptions.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Facilitation: Poll the room and online chat: ‘Do you more often receive too little, too much, or the wrong kind of output?’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Build / animation: Sticky-note side slides in gently; paper tower lands; the central equation expands last.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Original workshop content and generated illustration; no external source.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one needed more intelligence. They needed an explicit, verified unit contract across the interface.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Facilitation: Ask participants to name modern equivalents: date formats, time zones, currency, data schemas, confidence thresholds, or audience definitions.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Build / animation: Spacecraft moves first; the two unit motifs collide; the factor and 57 km consequence reveal last.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NASA, Mars Climate Orbiter Mishap Investigation Board Phase I Report (1999): https://discovery.larc.nasa.gov/discovery/PDF_FILES/MCO_report_2.pdf</a:t>
            </a:r>
          </a:p>
          <a:p xmlns:a="http://schemas.openxmlformats.org/drawingml/2006/main">
            <a:r>
              <a:t>- NASA JPL, Mars Climate Orbiter mission page: https://www.jpl.nasa.gov/missions/mars-climate-orbiter/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builder is not allowed to be ‘bad at listening.’ In round one, the protocol itself creates guessing.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Facilitation: Run in pairs. Online participants use camera-visible paper or a shared whiteboard. Compare drawings; do not score artistic quality.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Build / animation: Timer appears; reveal round one; show mismatched blocks; reveal round two and alignment stamp.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Original workshop content and generated illustration; no external source.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Context does not merely decorate a request. It changes risk, consent, urgency, and the receiver’s correct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Facilitation: Read only the unframed request first. Ask for the immediate reaction. Then reveal the role and goal frames one at a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Build / animation: Keep the central action fixed; flip the three frames sequentially. Pause after each reaction.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Original workshop content and generated illustration; no external source.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role is valuable only when it changes what the receiver notices, prioritizes, and verifies.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Facilitation: Assign one lens to each table and each online participant. Give 60 seconds, then compare the first three steps of each plan.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Build / animation: Prompt appears; each lens zooms in; reveal the four operational interpretations one by 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Original workshop content and generated illustration; no external source.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C.L.E.A.R.+ is not a magic prompt formula. It is a checklist for designing shared meaning with humans and machines.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Facilitation: Ask participants which letter they already use consistently—and which one they usually leave implicit.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Build / animation: Reveal modules clockwise: C, L, E, A, R, then +. Use a soft chime only if the room supports audio.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Original workshop content and generated illustration; no external source.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Context tells the receiver what world the work lives in. The goal tells them where the work must land.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Facilitation: For each example, ask what a vague instruction would have forced the receiver to guess.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Build / animation: Reveal the weak prompt verbally, then show the context-and-goal version. Build workplace, home, partner.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Original workshop content and generated illustration; no external source.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Quality is shaped as much by what must not happen as by what should happen.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Facilitation: Ask participants for one costly failure that a single negative constraint could have prevented.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Build / animation: Show scenario; pop in forbidden outcomes; stamp each out with the relevant boundary.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Original workshop content and generated illustration; no external source.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output format is not cosmetic. It determines whether the result can be compared, reviewed, or used immediately.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Facilitation: Ask: ‘What downstream action must this output support?’ Then define the smallest structure that supports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Build / animation: Blank containers arrive first; content populates into each container in sequence.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Original workshop content and generated illustration; no external source.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Tone is operational: it changes trust, cognitive load, resistance, and the probability of 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Facilitation: Invite participants to rewrite one sentence for a skeptical expert and then for a stressed beginner.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Build / animation: Move the warmth, depth, and skepticism sliders before revealing each audience example.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Original workshop content and generated illustration; no external source.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useful role gives the receiver a decision standard and a process. ‘Act as a genius’ gives neither.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Facilitation: Ask participants to replace one decorative persona with a real responsibility, checklist, and stopping condition.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Build / animation: Illuminate step one, two, and three on each pathway. Reveal the stopping rule with the final step.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Original workshop content and generated illustration; no external source.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reward a flawed output by throwing away all the working context. Debug the smallest failing unit.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Facilitation: Ask someone for a recent bad AI output. Identify one defect, quote the smallest defective span, and add one local constraint.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Build / animation: Highlight the defect in red; cut it into an isolation box; move through Diagnose, Isolate, Constrain; snap the verified result back.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Original workshop content and generated illustration; no external source.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 can draft, classify, summarize, and propose. It cannot take your legal, ethical, or professional accountability.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Facilitation: Ask participants to identify one data field they should mask and one decision that must always keep a human signature.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Build / animation: Raw tokens move through the shield and become placeholders; the human verification stamp lands last.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Original workshop content and generated illustration; no external source.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Communication is never what leaves your mouth or keyboard; it is what the receiver can reconstruct and execute.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Facilitation: Give everyone 30 seconds to write one recurring request they will redesign with C.L.E.A.R.+ this week. Invite three public commitments, including one online participant.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Build / animation: Reference card flips; front and back rules appear; close with light confetti and the public commitment.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Original workshop content and generated illustration; no external source.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58be65e17847c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e490221439c44a4" /><Relationship Type="http://schemas.openxmlformats.org/officeDocument/2006/relationships/slideLayout" Target="/ppt/slideLayouts/slideLayout1.xml" Id="Rd14ce4ddc8a24d3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14ce4ddc8a24d3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88268b78c642ba" /><Relationship Type="http://schemas.openxmlformats.org/officeDocument/2006/relationships/image" Target="/ppt/media/image.png" Id="R19d4a34f078444b8" /><Relationship Type="http://schemas.openxmlformats.org/officeDocument/2006/relationships/notesSlide" Target="/ppt/notesSlides/notesSlide1.xml" Id="Rdfc19f2ec79f4d3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99b58cbc8f4128" /><Relationship Type="http://schemas.openxmlformats.org/officeDocument/2006/relationships/image" Target="/ppt/media/image2.png" Id="Ra44fb32b81d54088" /><Relationship Type="http://schemas.openxmlformats.org/officeDocument/2006/relationships/notesSlide" Target="/ppt/notesSlides/notesSlide2.xml" Id="R478f13bcd65a4a6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89dae2945344a6" /><Relationship Type="http://schemas.openxmlformats.org/officeDocument/2006/relationships/image" Target="/ppt/media/image3.png" Id="Rec0035d118b74d47" /><Relationship Type="http://schemas.openxmlformats.org/officeDocument/2006/relationships/notesSlide" Target="/ppt/notesSlides/notesSlide3.xml" Id="Rad48d5423eda43e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f4722fefa34bd8" /><Relationship Type="http://schemas.openxmlformats.org/officeDocument/2006/relationships/image" Target="/ppt/media/image4.png" Id="R34ba6737f55c4f69" /><Relationship Type="http://schemas.openxmlformats.org/officeDocument/2006/relationships/notesSlide" Target="/ppt/notesSlides/notesSlide4.xml" Id="Reccc242d824e4bb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ed1105f5384c99" /><Relationship Type="http://schemas.openxmlformats.org/officeDocument/2006/relationships/image" Target="/ppt/media/image5.png" Id="R9204fcde95b44e12" /><Relationship Type="http://schemas.openxmlformats.org/officeDocument/2006/relationships/notesSlide" Target="/ppt/notesSlides/notesSlide5.xml" Id="Rbda10efd08d346f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cdcff38f1d4e51" /><Relationship Type="http://schemas.openxmlformats.org/officeDocument/2006/relationships/image" Target="/ppt/media/image6.png" Id="R78e654f976524176" /><Relationship Type="http://schemas.openxmlformats.org/officeDocument/2006/relationships/notesSlide" Target="/ppt/notesSlides/notesSlide6.xml" Id="R02897a6df23b450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74fd5d6ff744b8" /><Relationship Type="http://schemas.openxmlformats.org/officeDocument/2006/relationships/notesSlide" Target="/ppt/notesSlides/notesSlide7.xml" Id="Rc43b506229794eb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15136c85f1453d" /><Relationship Type="http://schemas.openxmlformats.org/officeDocument/2006/relationships/image" Target="/ppt/media/image7.png" Id="Rcef383d50fba4586" /><Relationship Type="http://schemas.openxmlformats.org/officeDocument/2006/relationships/notesSlide" Target="/ppt/notesSlides/notesSlide8.xml" Id="R562c8b8ed537400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0fc8394ffc400b" /><Relationship Type="http://schemas.openxmlformats.org/officeDocument/2006/relationships/image" Target="/ppt/media/image8.png" Id="R00adc1d2bfbe4713" /><Relationship Type="http://schemas.openxmlformats.org/officeDocument/2006/relationships/notesSlide" Target="/ppt/notesSlides/notesSlide9.xml" Id="Re36be272e5894e9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571f94a75f4729" /><Relationship Type="http://schemas.openxmlformats.org/officeDocument/2006/relationships/image" Target="/ppt/media/image9.png" Id="R0be748a2cd384a69" /><Relationship Type="http://schemas.openxmlformats.org/officeDocument/2006/relationships/notesSlide" Target="/ppt/notesSlides/notesSlide10.xml" Id="R5e089fe7f0e6430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4e3d6c133b4449" /><Relationship Type="http://schemas.openxmlformats.org/officeDocument/2006/relationships/image" Target="/ppt/media/image10.png" Id="R722bfc65a7984203" /><Relationship Type="http://schemas.openxmlformats.org/officeDocument/2006/relationships/notesSlide" Target="/ppt/notesSlides/notesSlide11.xml" Id="Re866f7d29a7e4f3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4861203b17452a" /><Relationship Type="http://schemas.openxmlformats.org/officeDocument/2006/relationships/image" Target="/ppt/media/image11.png" Id="R12a92cc9a6d545bf" /><Relationship Type="http://schemas.openxmlformats.org/officeDocument/2006/relationships/notesSlide" Target="/ppt/notesSlides/notesSlide12.xml" Id="R79466e8c051d459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d4ed6441cf46fa" /><Relationship Type="http://schemas.openxmlformats.org/officeDocument/2006/relationships/notesSlide" Target="/ppt/notesSlides/notesSlide13.xml" Id="Rc3e4e59412e4430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33e206ed3f4794" /><Relationship Type="http://schemas.openxmlformats.org/officeDocument/2006/relationships/image" Target="/ppt/media/image12.png" Id="R323335dcfe514db5" /><Relationship Type="http://schemas.openxmlformats.org/officeDocument/2006/relationships/notesSlide" Target="/ppt/notesSlides/notesSlide14.xml" Id="Rcd987f5e8bf7432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1eccdc99ad4335" /><Relationship Type="http://schemas.openxmlformats.org/officeDocument/2006/relationships/image" Target="/ppt/media/image13.png" Id="R11327cda1203488f" /><Relationship Type="http://schemas.openxmlformats.org/officeDocument/2006/relationships/notesSlide" Target="/ppt/notesSlides/notesSlide15.xml" Id="R5f84eb335a484c5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21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d4a34f078444b8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EF124A-7F46-4CD4-AE4C-7828F7C76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F1B22">
                  <a:alpha val="92000"/>
                </a:srgbClr>
              </a:gs>
              <a:gs pos="41000">
                <a:srgbClr val="0F1B22">
                  <a:alpha val="72000"/>
                </a:srgbClr>
              </a:gs>
              <a:gs pos="72000">
                <a:srgbClr val="0F1B22">
                  <a:alpha val="4000"/>
                </a:srgbClr>
              </a:gs>
              <a:gs pos="100000">
                <a:srgbClr val="0F1B22">
                  <a:alpha val="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FCA1B1F0-78CC-44C6-BFA7-5FE2ADB4D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1962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F7F5EF"/>
                </a:solidFill>
              </a:defRPr>
            </a:pPr>
            <a:r>
              <a:rPr sz="975" b="1" i="0">
                <a:solidFill>
                  <a:srgbClr val="F7F5EF"/>
                </a:solidFill>
              </a:rPr>
              <a:t>WORKSHOP COLD OPEN</a:t>
            </a:r>
          </a:p>
        </p:txBody>
      </p:sp>
      <p:sp>
        <p:nvSpPr>
          <p:cNvPr id="4" name="hero-title">
            <a:extLst xmlns:a="http://schemas.openxmlformats.org/drawingml/2006/main">
              <a:ext uri="{FF2B5EF4-FFF2-40B4-BE49-F238E27FC236}">
                <a16:creationId xmlns:a16="http://schemas.microsoft.com/office/drawing/2014/main" id="{CB4DBE9A-2FFB-4FC7-87A4-19C95D60C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5334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4350" b="1" i="0">
                <a:solidFill>
                  <a:srgbClr val="FFFFFF"/>
                </a:solidFill>
              </a:defRPr>
            </a:pPr>
            <a:r>
              <a:rPr sz="4350" b="1" i="0">
                <a:solidFill>
                  <a:srgbClr val="FFFFFF"/>
                </a:solidFill>
              </a:rPr>
              <a:t>Communication is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4350" b="1" i="0">
                <a:solidFill>
                  <a:srgbClr val="FFFFFF"/>
                </a:solidFill>
              </a:defRPr>
            </a:pPr>
            <a:r>
              <a:rPr sz="4350" b="1" i="0">
                <a:solidFill>
                  <a:srgbClr val="FFFFFF"/>
                </a:solidFill>
              </a:rPr>
              <a:t>architecture,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4350" b="1" i="0">
                <a:solidFill>
                  <a:srgbClr val="FFFFFF"/>
                </a:solidFill>
              </a:defRPr>
            </a:pPr>
            <a:r>
              <a:rPr sz="4350" b="1" i="0">
                <a:solidFill>
                  <a:srgbClr val="FFFFFF"/>
                </a:solidFill>
              </a:rPr>
              <a:t>not telepathy.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08D2D1-5947-43F4-89E1-439FAF137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623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 i="0">
                <a:solidFill>
                  <a:srgbClr val="1FB6C9"/>
                </a:solidFill>
              </a:defRPr>
            </a:pPr>
            <a:r>
              <a:rPr sz="1800" b="1" i="0">
                <a:solidFill>
                  <a:srgbClr val="1FB6C9"/>
                </a:solidFill>
              </a:rPr>
              <a:t>The Shared Meaning Lab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79B808-66E6-4806-B520-1D62D7B79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6240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172129"/>
                </a:solidFill>
              </a:defRPr>
            </a:pPr>
            <a:r>
              <a:rPr sz="1425" b="1" i="0">
                <a:solidFill>
                  <a:srgbClr val="172129"/>
                </a:solidFill>
              </a:rPr>
              <a:t>Zero-assumption delegation &amp; AI orchestration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2A6C24-06C1-4FFF-BDD8-36E5A8DDD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05375"/>
            <a:ext cx="29908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B64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129"/>
                </a:solidFill>
              </a:defRPr>
            </a:pPr>
            <a:r>
              <a:rPr sz="975" b="1">
                <a:solidFill>
                  <a:srgbClr val="172129"/>
                </a:solidFill>
              </a:rPr>
              <a:t>SAME WORDS · DIFFERENT WORLDS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54DA27-20EB-4E14-827B-AF635ED41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48300"/>
            <a:ext cx="409575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212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1 MISSING UNIT CONTRACT → 1 SPACECRAFT LOST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647968-DC79-41D4-9531-9A47CC31B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B9C6CB"/>
                </a:solidFill>
              </a:defRPr>
            </a:pPr>
            <a:r>
              <a:rPr sz="825" b="1" i="0">
                <a:solidFill>
                  <a:srgbClr val="B9C6CB"/>
                </a:solidFill>
              </a:rPr>
              <a:t>THE SHARED MEANING LAB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B9D062-BDAB-4926-BDDD-DD4410816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F7F5EF"/>
                </a:solidFill>
              </a:defRPr>
            </a:pPr>
            <a:r>
              <a:rPr sz="900" b="1" i="0">
                <a:solidFill>
                  <a:srgbClr val="F7F5EF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076035"/>
      </p:ext>
    </p:extLst>
  </p:cSld>
  <p:transition spd="fast" advClick="1">
    <p:fade/>
  </p:transition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B0B666F1-83BD-4FAF-8015-ECE9486AC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1962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5D6B72"/>
                </a:solidFill>
              </a:defRPr>
            </a:pPr>
            <a:r>
              <a:rPr sz="975" b="1" i="0">
                <a:solidFill>
                  <a:srgbClr val="5D6B72"/>
                </a:solidFill>
              </a:rPr>
              <a:t>THE ASSUMPTION GAP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3DAD15E-CAFA-4EFF-8142-5B964CC73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850" b="1" i="0">
                <a:solidFill>
                  <a:srgbClr val="15222A"/>
                </a:solidFill>
              </a:defRPr>
            </a:pPr>
            <a:r>
              <a:rPr sz="2850" b="1" i="0">
                <a:solidFill>
                  <a:srgbClr val="15222A"/>
                </a:solidFill>
              </a:rPr>
              <a:t>What you asked for ≠ what came back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4fb32b81d54088"/>
          <a:srcRect xmlns:a="http://schemas.openxmlformats.org/drawingml/2006/main" l="0" t="16839" r="0" b="168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428750"/>
            <a:ext cx="10972800" cy="4095750"/>
          </a:xfrm>
          <a:prstGeom xmlns:a="http://schemas.openxmlformats.org/drawingml/2006/main" prst="roundRect">
            <a:avLst>
              <a:gd name="adj" fmla="val 5581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C73703-CB45-409B-BA3C-EB921F9CE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95450"/>
            <a:ext cx="16573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5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5222A"/>
                </a:solidFill>
              </a:defRPr>
            </a:pPr>
            <a:r>
              <a:rPr sz="900" b="1">
                <a:solidFill>
                  <a:srgbClr val="15222A"/>
                </a:solidFill>
              </a:rPr>
              <a:t>WHAT YOU ASKED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4B8CC9-C3A2-437A-AE9E-043878209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717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 i="0">
                <a:solidFill>
                  <a:srgbClr val="15222A"/>
                </a:solidFill>
              </a:defRPr>
            </a:pPr>
            <a:r>
              <a:rPr sz="1800" b="1" i="0">
                <a:solidFill>
                  <a:srgbClr val="15222A"/>
                </a:solidFill>
              </a:rPr>
              <a:t>“Send a quick update.”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F56641-C822-4D5D-9DDC-195740B90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695450"/>
            <a:ext cx="15049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DE5E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5222A"/>
                </a:solidFill>
              </a:defRPr>
            </a:pPr>
            <a:r>
              <a:rPr sz="900" b="1">
                <a:solidFill>
                  <a:srgbClr val="15222A"/>
                </a:solidFill>
              </a:rPr>
              <a:t>WHAT LANDED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E9E5C2-EE60-4ED3-AA7D-588B940C2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171700"/>
            <a:ext cx="30289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15222A"/>
                </a:solidFill>
              </a:defRPr>
            </a:pPr>
            <a:r>
              <a:rPr sz="1725" b="1" i="0">
                <a:solidFill>
                  <a:srgbClr val="15222A"/>
                </a:solidFill>
              </a:rPr>
              <a:t>42 slides. 8 rockets.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15222A"/>
                </a:solidFill>
              </a:defRPr>
            </a:pPr>
            <a:r>
              <a:rPr sz="1725" b="1" i="0">
                <a:solidFill>
                  <a:srgbClr val="15222A"/>
                </a:solidFill>
              </a:rPr>
              <a:t>One ‘synergistic tapestry.’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46CA54-C0AC-4A57-BE8F-9EF68FBBF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657850"/>
            <a:ext cx="35052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212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HUMANS GUESS · AI PREDICTS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E75BD2-419D-41CD-821D-6C9ED7B12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15000"/>
            <a:ext cx="1143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B64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2129"/>
                </a:solidFill>
              </a:defRPr>
            </a:pPr>
            <a:r>
              <a:rPr sz="825" b="1">
                <a:solidFill>
                  <a:srgbClr val="172129"/>
                </a:solidFill>
              </a:rPr>
              <a:t>QUICK POLL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CDE4CC-3609-43FB-8BDD-4B0F153FF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7B898E"/>
                </a:solidFill>
              </a:defRPr>
            </a:pPr>
            <a:r>
              <a:rPr sz="825" b="1" i="0">
                <a:solidFill>
                  <a:srgbClr val="7B898E"/>
                </a:solidFill>
              </a:rPr>
              <a:t>THE SHARED MEANING LAB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078178-A337-4E65-B131-AAF00745D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5D6B72"/>
                </a:solidFill>
              </a:defRPr>
            </a:pPr>
            <a:r>
              <a:rPr sz="900" b="1" i="0">
                <a:solidFill>
                  <a:srgbClr val="5D6B72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19226656"/>
      </p:ext>
    </p:extLst>
  </p:cSld>
  <p:transition spd="fast" advClick="1">
    <p:fade/>
  </p:transition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721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0035d118b74d4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DE8C06-1300-4F7A-9C9C-43746869D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857875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A151D">
                  <a:alpha val="98000"/>
                </a:srgbClr>
              </a:gs>
              <a:gs pos="72000">
                <a:srgbClr val="0A151D">
                  <a:alpha val="92000"/>
                </a:srgbClr>
              </a:gs>
              <a:gs pos="100000">
                <a:srgbClr val="0A151D">
                  <a:alpha val="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07F8BB14-FDE9-44D1-826D-83F69A9FD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1962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F7F5EF"/>
                </a:solidFill>
              </a:defRPr>
            </a:pPr>
            <a:r>
              <a:rPr sz="975" b="1" i="0">
                <a:solidFill>
                  <a:srgbClr val="F7F5EF"/>
                </a:solidFill>
              </a:rPr>
              <a:t>CASE STUDY · 1999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4927CC-9DF4-4730-BCF9-7B2D9FB7F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5048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225" b="1" i="0">
                <a:solidFill>
                  <a:srgbClr val="FFFFFF"/>
                </a:solidFill>
              </a:defRPr>
            </a:pPr>
            <a:r>
              <a:rPr sz="3225" b="1" i="0">
                <a:solidFill>
                  <a:srgbClr val="FFFFFF"/>
                </a:solidFill>
              </a:rPr>
              <a:t>A boundary failure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3225" b="1" i="0">
                <a:solidFill>
                  <a:srgbClr val="FFFFFF"/>
                </a:solidFill>
              </a:defRPr>
            </a:pPr>
            <a:r>
              <a:rPr sz="3225" b="1" i="0">
                <a:solidFill>
                  <a:srgbClr val="FFFFFF"/>
                </a:solidFill>
              </a:rPr>
              <a:t>reached Mars.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9880E4-B97B-481E-B946-2FFA977FA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526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6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3E5E1D-28EE-4502-8467-5A1AFAEA9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145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Lockheed output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0C7483-865E-44DD-9974-11C670CF9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71725"/>
            <a:ext cx="419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 i="0">
                <a:solidFill>
                  <a:srgbClr val="CBD5D9"/>
                </a:solidFill>
              </a:defRPr>
            </a:pPr>
            <a:r>
              <a:rPr sz="1275" b="0" i="0">
                <a:solidFill>
                  <a:srgbClr val="CBD5D9"/>
                </a:solidFill>
              </a:rPr>
              <a:t>Thruster impulse delivered in pound-force seconds (lbf·s).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D2743E-E5FF-4681-93F3-66B5BEFE3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813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B6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B5EEF1-31D0-43B1-85C1-732EF0FEC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JPL expectation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DFD421-896C-48C1-B8F6-F5F3234B7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00425"/>
            <a:ext cx="419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 i="0">
                <a:solidFill>
                  <a:srgbClr val="CBD5D9"/>
                </a:solidFill>
              </a:defRPr>
            </a:pPr>
            <a:r>
              <a:rPr sz="1275" b="0" i="0">
                <a:solidFill>
                  <a:srgbClr val="CBD5D9"/>
                </a:solidFill>
              </a:rPr>
              <a:t>The interface required and navigation assumed newton-seconds (N·s).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B1ADE0-24B0-4A37-8D29-924C6936F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62450"/>
            <a:ext cx="30099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6E5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LOW BY A FACTOR OF 4.45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83A06F-7994-4DE4-A960-FD5C6F248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0"/>
            <a:ext cx="4476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The corrected estimate placed periapsis at 57 km—too low for survival.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E44AE3-131D-458C-A3C2-68505AB40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 i="0">
                <a:solidFill>
                  <a:srgbClr val="F5B647"/>
                </a:solidFill>
              </a:defRPr>
            </a:pPr>
            <a:r>
              <a:rPr sz="1575" b="1" i="0">
                <a:solidFill>
                  <a:srgbClr val="F5B647"/>
                </a:solidFill>
              </a:rPr>
              <a:t>FLUENCY IS NOT EVIDENCE.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19F9C4-FC9F-4E40-AB1D-1265325A7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B9C6CB"/>
                </a:solidFill>
              </a:defRPr>
            </a:pPr>
            <a:r>
              <a:rPr sz="825" b="1" i="0">
                <a:solidFill>
                  <a:srgbClr val="B9C6CB"/>
                </a:solidFill>
              </a:rPr>
              <a:t>THE SHARED MEANING LAB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71989C-ECB4-4DAB-A970-F00628C0C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F7F5EF"/>
                </a:solidFill>
              </a:defRPr>
            </a:pPr>
            <a:r>
              <a:rPr sz="900" b="1" i="0">
                <a:solidFill>
                  <a:srgbClr val="F7F5EF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63584442"/>
      </p:ext>
    </p:extLst>
  </p:cSld>
  <p:transition spd="fast" advClick="1">
    <p:fade/>
  </p:transition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58A0F46A-9295-420E-A863-A120034DE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1962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5D6B72"/>
                </a:solidFill>
              </a:defRPr>
            </a:pPr>
            <a:r>
              <a:rPr sz="975" b="1" i="0">
                <a:solidFill>
                  <a:srgbClr val="5D6B72"/>
                </a:solidFill>
              </a:rPr>
              <a:t>INTERACTIVE GAME 1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03E93AA-19A9-4F43-A16B-D2C80147A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850" b="1" i="0">
                <a:solidFill>
                  <a:srgbClr val="15222A"/>
                </a:solidFill>
              </a:defRPr>
            </a:pPr>
            <a:r>
              <a:rPr sz="2850" b="1" i="0">
                <a:solidFill>
                  <a:srgbClr val="15222A"/>
                </a:solidFill>
              </a:rPr>
              <a:t>Words are a lossy compression format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ba6737f55c4f69"/>
          <a:srcRect xmlns:a="http://schemas.openxmlformats.org/drawingml/2006/main" l="13326" t="0" r="1332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0" y="1314450"/>
            <a:ext cx="6057900" cy="4648200"/>
          </a:xfrm>
          <a:prstGeom xmlns:a="http://schemas.openxmlformats.org/drawingml/2006/main" prst="roundRect">
            <a:avLst>
              <a:gd name="adj" fmla="val 4918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90604D-307E-420C-B12E-ED0D41F75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381125"/>
            <a:ext cx="838200" cy="838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B647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129"/>
                </a:solidFill>
              </a:defRPr>
            </a:pPr>
            <a:r>
              <a:rPr sz="1500" b="1">
                <a:solidFill>
                  <a:srgbClr val="172129"/>
                </a:solidFill>
              </a:rPr>
              <a:t>90 SEC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B82DA1-6E7C-4AD4-A151-328B7279D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430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F36E5A"/>
                </a:solidFill>
              </a:defRPr>
            </a:pPr>
            <a:r>
              <a:rPr sz="1125" b="1" i="0">
                <a:solidFill>
                  <a:srgbClr val="F36E5A"/>
                </a:solidFill>
              </a:rPr>
              <a:t>ROUND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D33BA4-1E7F-4A7D-B48B-F2DA097D8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95475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5222A"/>
                </a:solidFill>
              </a:defRPr>
            </a:pPr>
            <a:r>
              <a:rPr sz="1950" b="1" i="0">
                <a:solidFill>
                  <a:srgbClr val="15222A"/>
                </a:solidFill>
              </a:rPr>
              <a:t>Zero-feedback protocol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59165E-3C2A-4848-B9BC-20BE01BBF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81250"/>
            <a:ext cx="419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5D6B72"/>
                </a:solidFill>
              </a:defRPr>
            </a:pPr>
            <a:r>
              <a:rPr sz="1350" b="0" i="0">
                <a:solidFill>
                  <a:srgbClr val="5D6B72"/>
                </a:solidFill>
              </a:rPr>
              <a:t>Architect speaks. Builder stays silent.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5D6B72"/>
                </a:solidFill>
              </a:defRPr>
            </a:pPr>
            <a:r>
              <a:rPr sz="1350" b="0" i="0">
                <a:solidFill>
                  <a:srgbClr val="5D6B72"/>
                </a:solidFill>
              </a:rPr>
              <a:t>No pointing. No questions. No correction.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EDBC30-B4A7-4348-BCBC-652E6D994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95650"/>
            <a:ext cx="17907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DE5E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36E5A"/>
                </a:solidFill>
              </a:defRPr>
            </a:pPr>
            <a:r>
              <a:rPr sz="900" b="1">
                <a:solidFill>
                  <a:srgbClr val="F36E5A"/>
                </a:solidFill>
              </a:rPr>
              <a:t>EXPECT: MISMATCH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8676EB-0334-4B01-BB40-703D15347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433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5CB88A"/>
                </a:solidFill>
              </a:defRPr>
            </a:pPr>
            <a:r>
              <a:rPr sz="1125" b="1" i="0">
                <a:solidFill>
                  <a:srgbClr val="5CB88A"/>
                </a:solidFill>
              </a:rPr>
              <a:t>ROUND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4D66DD-6353-4F60-817E-7B1C4861A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95775"/>
            <a:ext cx="421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5222A"/>
                </a:solidFill>
              </a:defRPr>
            </a:pPr>
            <a:r>
              <a:rPr sz="1950" b="1" i="0">
                <a:solidFill>
                  <a:srgbClr val="15222A"/>
                </a:solidFill>
              </a:rPr>
              <a:t>Grounded verification loop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24F4D1-31B7-48EE-80DD-89E7CEC82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81550"/>
            <a:ext cx="4286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5D6B72"/>
                </a:solidFill>
              </a:defRPr>
            </a:pPr>
            <a:r>
              <a:rPr sz="1350" b="0" i="0">
                <a:solidFill>
                  <a:srgbClr val="5D6B72"/>
                </a:solidFill>
              </a:rPr>
              <a:t>Define origin, scale and angle. Builder paraphrases. Architect corrects once.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0BA539-F1A6-440D-A700-2095CD6DF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57850"/>
            <a:ext cx="1866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F3E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CB88A"/>
                </a:solidFill>
              </a:defRPr>
            </a:pPr>
            <a:r>
              <a:rPr sz="900" b="1">
                <a:solidFill>
                  <a:srgbClr val="5CB88A"/>
                </a:solidFill>
              </a:rPr>
              <a:t>EXPECT: ALIGNMENT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31E469-462C-45F0-AF16-883A34E2B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7B898E"/>
                </a:solidFill>
              </a:defRPr>
            </a:pPr>
            <a:r>
              <a:rPr sz="825" b="1" i="0">
                <a:solidFill>
                  <a:srgbClr val="7B898E"/>
                </a:solidFill>
              </a:rPr>
              <a:t>THE SHARED MEANING LAB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5C7EA9-F942-4420-A426-8D133FD97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5D6B72"/>
                </a:solidFill>
              </a:defRPr>
            </a:pPr>
            <a:r>
              <a:rPr sz="900" b="1" i="0">
                <a:solidFill>
                  <a:srgbClr val="5D6B72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19677257"/>
      </p:ext>
    </p:extLst>
  </p:cSld>
  <p:transition spd="fast" advClick="1">
    <p:fade/>
  </p:transition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A3D8EA6D-F9D2-409F-9BC1-129898B6E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1962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5D6B72"/>
                </a:solidFill>
              </a:defRPr>
            </a:pPr>
            <a:r>
              <a:rPr sz="975" b="1" i="0">
                <a:solidFill>
                  <a:srgbClr val="5D6B72"/>
                </a:solidFill>
              </a:rPr>
              <a:t>INTERACTIVE GAME 2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BE0C05C-BFD5-4119-B105-0B084EEA5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850" b="1" i="0">
                <a:solidFill>
                  <a:srgbClr val="15222A"/>
                </a:solidFill>
              </a:defRPr>
            </a:pPr>
            <a:r>
              <a:rPr sz="2850" b="1" i="0">
                <a:solidFill>
                  <a:srgbClr val="15222A"/>
                </a:solidFill>
              </a:rPr>
              <a:t>The same action can mean three different things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04fcde95b44e12"/>
          <a:srcRect xmlns:a="http://schemas.openxmlformats.org/drawingml/2006/main" l="11946" t="0" r="1194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76875" y="1352550"/>
            <a:ext cx="6105525" cy="4514850"/>
          </a:xfrm>
          <a:prstGeom xmlns:a="http://schemas.openxmlformats.org/drawingml/2006/main" prst="roundRect">
            <a:avLst>
              <a:gd name="adj" fmla="val 5063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FF65C4-8AD4-4422-ABC2-B60A8A4FB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47800"/>
            <a:ext cx="12954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212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SAME ACTION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7B5C16-3E1B-4357-A1F7-5069E1FEC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145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15222A"/>
                </a:solidFill>
              </a:defRPr>
            </a:pPr>
            <a:r>
              <a:rPr sz="2025" b="1" i="0">
                <a:solidFill>
                  <a:srgbClr val="15222A"/>
                </a:solidFill>
              </a:rPr>
              <a:t>“May I touch your hair?”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99E92A-4D57-4086-AB2D-A75E7C7BA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7652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DE5E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129"/>
                </a:solidFill>
              </a:defRPr>
            </a:pPr>
            <a:r>
              <a:rPr sz="900" b="1">
                <a:solidFill>
                  <a:srgbClr val="172129"/>
                </a:solidFill>
              </a:rPr>
              <a:t>UNFRAMED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FB0C38-ED51-4E5E-864E-1218AED4C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38475"/>
            <a:ext cx="4495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15222A"/>
                </a:solidFill>
              </a:defRPr>
            </a:pPr>
            <a:r>
              <a:rPr sz="1275" b="0" i="0">
                <a:solidFill>
                  <a:srgbClr val="15222A"/>
                </a:solidFill>
              </a:rPr>
              <a:t>No role. No reason. Boundary friction rises.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2A4203-5996-4237-B76D-D5A310909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8142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5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129"/>
                </a:solidFill>
              </a:defRPr>
            </a:pPr>
            <a:r>
              <a:rPr sz="900" b="1">
                <a:solidFill>
                  <a:srgbClr val="172129"/>
                </a:solidFill>
              </a:rPr>
              <a:t>ROLE-FRAMED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6B4292-3687-4F78-9218-857F4C970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43375"/>
            <a:ext cx="4495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15222A"/>
                </a:solidFill>
              </a:defRPr>
            </a:pPr>
            <a:r>
              <a:rPr sz="1275" b="0" i="0">
                <a:solidFill>
                  <a:srgbClr val="15222A"/>
                </a:solidFill>
              </a:rPr>
              <a:t>“I’m a stylist. May I examine the cutting technique?”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4A259A-02D0-4492-9CE3-1E1881D23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8632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C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129"/>
                </a:solidFill>
              </a:defRPr>
            </a:pPr>
            <a:r>
              <a:rPr sz="900" b="1">
                <a:solidFill>
                  <a:srgbClr val="172129"/>
                </a:solidFill>
              </a:rPr>
              <a:t>GOAL-DRIVEN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3DC31E-B2BE-4B2B-B2C0-9DAE97A80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48275"/>
            <a:ext cx="4495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15222A"/>
                </a:solidFill>
              </a:defRPr>
            </a:pPr>
            <a:r>
              <a:rPr sz="1275" b="0" i="0">
                <a:solidFill>
                  <a:srgbClr val="15222A"/>
                </a:solidFill>
              </a:rPr>
              <a:t>“Don’t move—there’s a wasp near your hair.”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6A18DB-9329-469B-9073-CF7657C8F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67425"/>
            <a:ext cx="1524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B64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2129"/>
                </a:solidFill>
              </a:defRPr>
            </a:pPr>
            <a:r>
              <a:rPr sz="825" b="1">
                <a:solidFill>
                  <a:srgbClr val="172129"/>
                </a:solidFill>
              </a:rPr>
              <a:t>VOTE 1 · 2 ·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272E6C-2A70-49B2-B3CC-BF462BCDF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7B898E"/>
                </a:solidFill>
              </a:defRPr>
            </a:pPr>
            <a:r>
              <a:rPr sz="825" b="1" i="0">
                <a:solidFill>
                  <a:srgbClr val="7B898E"/>
                </a:solidFill>
              </a:rPr>
              <a:t>THE SHARED MEANING LAB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F255C9-4B44-4648-8E80-70F5970BA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5D6B72"/>
                </a:solidFill>
              </a:defRPr>
            </a:pPr>
            <a:r>
              <a:rPr sz="900" b="1" i="0">
                <a:solidFill>
                  <a:srgbClr val="5D6B72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95265528"/>
      </p:ext>
    </p:extLst>
  </p:cSld>
  <p:transition spd="fast" advClick="1">
    <p:fade/>
  </p:transition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9DB3C7B1-CF12-404D-93EE-49217EB32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1962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5D6B72"/>
                </a:solidFill>
              </a:defRPr>
            </a:pPr>
            <a:r>
              <a:rPr sz="975" b="1" i="0">
                <a:solidFill>
                  <a:srgbClr val="5D6B72"/>
                </a:solidFill>
              </a:rPr>
              <a:t>INTERACTIVE GAME 3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66EA331-9C20-432F-BBC4-5A99AD980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850" b="1" i="0">
                <a:solidFill>
                  <a:srgbClr val="15222A"/>
                </a:solidFill>
              </a:defRPr>
            </a:pPr>
            <a:r>
              <a:rPr sz="2850" b="1" i="0">
                <a:solidFill>
                  <a:srgbClr val="15222A"/>
                </a:solidFill>
              </a:rPr>
              <a:t>Role + audience create operational reality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e654f976524176"/>
          <a:srcRect xmlns:a="http://schemas.openxmlformats.org/drawingml/2006/main" l="7733" t="0" r="773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14850" y="1276350"/>
            <a:ext cx="7067550" cy="4705350"/>
          </a:xfrm>
          <a:prstGeom xmlns:a="http://schemas.openxmlformats.org/drawingml/2006/main" prst="roundRect">
            <a:avLst>
              <a:gd name="adj" fmla="val 4858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2FDACA-9ED5-427F-AEE3-5CFF8028F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876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B64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2129"/>
                </a:solidFill>
              </a:defRPr>
            </a:pPr>
            <a:r>
              <a:rPr sz="825" b="1">
                <a:solidFill>
                  <a:srgbClr val="172129"/>
                </a:solidFill>
              </a:rPr>
              <a:t>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6B3CFF-A1A0-4E0F-A473-718B0969E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85950"/>
            <a:ext cx="3524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 i="0">
                <a:solidFill>
                  <a:srgbClr val="15222A"/>
                </a:solidFill>
              </a:defRPr>
            </a:pPr>
            <a:r>
              <a:rPr sz="1875" b="1" i="0">
                <a:solidFill>
                  <a:srgbClr val="15222A"/>
                </a:solidFill>
              </a:rPr>
              <a:t>“Write a plan to reach the top of that oak tree.”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67E50A-59D9-457B-A2C7-9C435A376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289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B6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F47AE7-26D6-4C54-A93D-331E36D59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90850"/>
            <a:ext cx="3086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15222A"/>
                </a:solidFill>
              </a:defRPr>
            </a:pPr>
            <a:r>
              <a:rPr sz="1350" b="1" i="0">
                <a:solidFill>
                  <a:srgbClr val="15222A"/>
                </a:solidFill>
              </a:rPr>
              <a:t>Physiotherapist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4F8027-1135-42E7-A821-8A5C06D2C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48025"/>
            <a:ext cx="3086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 i="0">
                <a:solidFill>
                  <a:srgbClr val="5D6B72"/>
                </a:solidFill>
              </a:defRPr>
            </a:pPr>
            <a:r>
              <a:rPr sz="1125" b="0" i="0">
                <a:solidFill>
                  <a:srgbClr val="5D6B72"/>
                </a:solidFill>
              </a:rPr>
              <a:t>Balance, coordination, safe movement.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7F8F4B-BA22-43D4-85BE-A890A60B9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6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586F2B-F782-4559-803D-33C5D4386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71900"/>
            <a:ext cx="3086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15222A"/>
                </a:solidFill>
              </a:defRPr>
            </a:pPr>
            <a:r>
              <a:rPr sz="1350" b="1" i="0">
                <a:solidFill>
                  <a:srgbClr val="15222A"/>
                </a:solidFill>
              </a:rPr>
              <a:t>Risk auditor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6125B1-B964-468D-8360-268C3404B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29075"/>
            <a:ext cx="3086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 i="0">
                <a:solidFill>
                  <a:srgbClr val="5D6B72"/>
                </a:solidFill>
              </a:defRPr>
            </a:pPr>
            <a:r>
              <a:rPr sz="1125" b="0" i="0">
                <a:solidFill>
                  <a:srgbClr val="5D6B72"/>
                </a:solidFill>
              </a:rPr>
              <a:t>Load checks, fall zone, controls.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4000F2-85DC-409F-87FB-FA926F890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91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CB8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0E35E2-314A-4B99-8B8C-FF2583B56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52950"/>
            <a:ext cx="3086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15222A"/>
                </a:solidFill>
              </a:defRPr>
            </a:pPr>
            <a:r>
              <a:rPr sz="1350" b="1" i="0">
                <a:solidFill>
                  <a:srgbClr val="15222A"/>
                </a:solidFill>
              </a:rPr>
              <a:t>Arborist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ADA7FD-7A28-48D0-8CF3-E2C648216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10125"/>
            <a:ext cx="3086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 i="0">
                <a:solidFill>
                  <a:srgbClr val="5D6B72"/>
                </a:solidFill>
              </a:defRPr>
            </a:pPr>
            <a:r>
              <a:rPr sz="1125" b="0" i="0">
                <a:solidFill>
                  <a:srgbClr val="5D6B72"/>
                </a:solidFill>
              </a:rPr>
              <a:t>Tree health, deadwood, branch unions.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743C66-AE06-484A-918A-532E4B962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721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6E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F0187B-8BB4-4A55-AA8F-A12957C9F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34000"/>
            <a:ext cx="3276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15222A"/>
                </a:solidFill>
              </a:defRPr>
            </a:pPr>
            <a:r>
              <a:rPr sz="1275" b="1" i="0">
                <a:solidFill>
                  <a:srgbClr val="15222A"/>
                </a:solidFill>
              </a:rPr>
              <a:t>Visitor with no shared language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28CDC0-2807-4A0F-BE0C-706F3D08E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91175"/>
            <a:ext cx="3276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0" i="0">
                <a:solidFill>
                  <a:srgbClr val="5D6B72"/>
                </a:solidFill>
              </a:defRPr>
            </a:pPr>
            <a:r>
              <a:rPr sz="1125" b="0" i="0">
                <a:solidFill>
                  <a:srgbClr val="5D6B72"/>
                </a:solidFill>
              </a:rPr>
              <a:t>Mime, spatial bounds, visual confirmation.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FD19B1-E419-4A02-B8D3-13B0B0AA7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7B898E"/>
                </a:solidFill>
              </a:defRPr>
            </a:pPr>
            <a:r>
              <a:rPr sz="825" b="1" i="0">
                <a:solidFill>
                  <a:srgbClr val="7B898E"/>
                </a:solidFill>
              </a:rPr>
              <a:t>THE SHARED MEANING LAB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8EF87B-ABE9-4701-ADFD-3244D5564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5D6B72"/>
                </a:solidFill>
              </a:defRPr>
            </a:pPr>
            <a:r>
              <a:rPr sz="900" b="1" i="0">
                <a:solidFill>
                  <a:srgbClr val="5D6B72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14714594"/>
      </p:ext>
    </p:extLst>
  </p:cSld>
  <p:transition spd="fast" advClick="1">
    <p:fade/>
  </p:transition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721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eyebrow">
            <a:extLst xmlns:a="http://schemas.openxmlformats.org/drawingml/2006/main">
              <a:ext uri="{FF2B5EF4-FFF2-40B4-BE49-F238E27FC236}">
                <a16:creationId xmlns:a16="http://schemas.microsoft.com/office/drawing/2014/main" id="{2F59DA0E-94E3-4347-8DDC-8EA76A71A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1962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F7F5EF"/>
                </a:solidFill>
              </a:defRPr>
            </a:pPr>
            <a:r>
              <a:rPr sz="975" b="1" i="0">
                <a:solidFill>
                  <a:srgbClr val="F7F5EF"/>
                </a:solidFill>
              </a:rPr>
              <a:t>UNIVERSAL ENGINE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4428C87-E306-4135-B39D-D15F5C3AA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850" b="1" i="0">
                <a:solidFill>
                  <a:srgbClr val="FFFFFF"/>
                </a:solidFill>
              </a:defRPr>
            </a:pPr>
            <a:r>
              <a:rPr sz="2850" b="1" i="0">
                <a:solidFill>
                  <a:srgbClr val="FFFFFF"/>
                </a:solidFill>
              </a:rPr>
              <a:t>Make intent observable with C.L.E.A.R.+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9E9D05-D317-4817-B632-834C6A572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23950"/>
            <a:ext cx="609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C6D1D5"/>
                </a:solidFill>
              </a:defRPr>
            </a:pPr>
            <a:r>
              <a:rPr sz="1500" b="0" i="0">
                <a:solidFill>
                  <a:srgbClr val="C6D1D5"/>
                </a:solidFill>
              </a:rPr>
              <a:t>Six design decisions. One shared execution model.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628E10-85B8-4F2B-A25B-7DD0B37F7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70510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0606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C045F7-B0C5-4375-9969-4A2F558E3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70510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0606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076B31-0664-4E65-B166-2986BEAB7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80060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0606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D32602-8D86-4D68-9E1B-606C161AB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80060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0606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1D38D0-696E-49D1-933E-5B74D0665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467100"/>
            <a:ext cx="0" cy="590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0606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55B21F-EC93-47C0-A4BB-46439A5B1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467100"/>
            <a:ext cx="0" cy="590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0606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4EB290-3D51-45C6-82DF-14BECA968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467100"/>
            <a:ext cx="0" cy="590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0606A"/>
            </a:solidFill>
            <a:prstDash val="solid"/>
          </a:ln>
        </p:spPr>
      </p:sp>
      <p:sp>
        <p:nvSpPr>
          <p:cNvPr id="11" name="clear-C">
            <a:extLst xmlns:a="http://schemas.openxmlformats.org/drawingml/2006/main">
              <a:ext uri="{FF2B5EF4-FFF2-40B4-BE49-F238E27FC236}">
                <a16:creationId xmlns:a16="http://schemas.microsoft.com/office/drawing/2014/main" id="{D0A88298-AB72-4E7C-B2A0-5C1D27826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62150"/>
            <a:ext cx="2895600" cy="150495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22313A"/>
          </a:solidFill>
          <a:ln xmlns:a="http://schemas.openxmlformats.org/drawingml/2006/main" w="28575">
            <a:solidFill>
              <a:srgbClr val="1FB6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80D232-3B74-4C89-A8EE-3824DFCEC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90750"/>
            <a:ext cx="609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900" b="1" i="0">
                <a:solidFill>
                  <a:srgbClr val="1FB6C9"/>
                </a:solidFill>
              </a:defRPr>
            </a:pPr>
            <a:r>
              <a:rPr sz="3900" b="1" i="0">
                <a:solidFill>
                  <a:srgbClr val="1FB6C9"/>
                </a:solidFill>
              </a:rPr>
              <a:t>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8C0FE6-036D-4D0B-9DD2-F4CDD03EB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295525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Context &amp; Goal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C2645C-1849-4E7E-A190-A95AAE477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743200"/>
            <a:ext cx="1676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C4D0D4"/>
                </a:solidFill>
              </a:defRPr>
            </a:pPr>
            <a:r>
              <a:rPr sz="1125" b="0" i="0">
                <a:solidFill>
                  <a:srgbClr val="C4D0D4"/>
                </a:solidFill>
              </a:rPr>
              <a:t>Baseline + success</a:t>
            </a:r>
          </a:p>
        </p:txBody>
      </p:sp>
      <p:sp>
        <p:nvSpPr>
          <p:cNvPr id="15" name="clear-L">
            <a:extLst xmlns:a="http://schemas.openxmlformats.org/drawingml/2006/main">
              <a:ext uri="{FF2B5EF4-FFF2-40B4-BE49-F238E27FC236}">
                <a16:creationId xmlns:a16="http://schemas.microsoft.com/office/drawing/2014/main" id="{5C5F2574-FC47-4A77-9B77-27EE37B55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62150"/>
            <a:ext cx="2895600" cy="150495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22313A"/>
          </a:solidFill>
          <a:ln xmlns:a="http://schemas.openxmlformats.org/drawingml/2006/main" w="28575">
            <a:solidFill>
              <a:srgbClr val="F36E5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8D6877-5501-4067-B7BA-D428B5185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190750"/>
            <a:ext cx="609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900" b="1" i="0">
                <a:solidFill>
                  <a:srgbClr val="F36E5A"/>
                </a:solidFill>
              </a:defRPr>
            </a:pPr>
            <a:r>
              <a:rPr sz="3900" b="1" i="0">
                <a:solidFill>
                  <a:srgbClr val="F36E5A"/>
                </a:solidFill>
              </a:rPr>
              <a:t>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8D7AAB-3CA2-4086-B52C-EE817EF8E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295525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Limits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431063-2D1A-4A51-9779-7A3DC7E12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743200"/>
            <a:ext cx="1676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C4D0D4"/>
                </a:solidFill>
              </a:defRPr>
            </a:pPr>
            <a:r>
              <a:rPr sz="1125" b="0" i="0">
                <a:solidFill>
                  <a:srgbClr val="C4D0D4"/>
                </a:solidFill>
              </a:rPr>
              <a:t>Boundaries + forbidden</a:t>
            </a:r>
          </a:p>
        </p:txBody>
      </p:sp>
      <p:sp>
        <p:nvSpPr>
          <p:cNvPr id="19" name="clear-E">
            <a:extLst xmlns:a="http://schemas.openxmlformats.org/drawingml/2006/main">
              <a:ext uri="{FF2B5EF4-FFF2-40B4-BE49-F238E27FC236}">
                <a16:creationId xmlns:a16="http://schemas.microsoft.com/office/drawing/2014/main" id="{6BB1E21A-9438-4A84-8F10-E71A078EE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962150"/>
            <a:ext cx="2895600" cy="150495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22313A"/>
          </a:solidFill>
          <a:ln xmlns:a="http://schemas.openxmlformats.org/drawingml/2006/main" w="28575">
            <a:solidFill>
              <a:srgbClr val="F5B64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F59F28-DA5E-4F91-81DE-D98FFE46D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90750"/>
            <a:ext cx="609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900" b="1" i="0">
                <a:solidFill>
                  <a:srgbClr val="F5B647"/>
                </a:solidFill>
              </a:defRPr>
            </a:pPr>
            <a:r>
              <a:rPr sz="3900" b="1" i="0">
                <a:solidFill>
                  <a:srgbClr val="F5B647"/>
                </a:solidFill>
              </a:rPr>
              <a:t>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594E5E-F997-4B1E-8F35-6238A4E26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295525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Expected Output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AA2642-59F5-4B34-8951-79DEAD4B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43200"/>
            <a:ext cx="1676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C4D0D4"/>
                </a:solidFill>
              </a:defRPr>
            </a:pPr>
            <a:r>
              <a:rPr sz="1125" b="0" i="0">
                <a:solidFill>
                  <a:srgbClr val="C4D0D4"/>
                </a:solidFill>
              </a:rPr>
              <a:t>Schema + length</a:t>
            </a:r>
          </a:p>
        </p:txBody>
      </p:sp>
      <p:sp>
        <p:nvSpPr>
          <p:cNvPr id="23" name="clear-A">
            <a:extLst xmlns:a="http://schemas.openxmlformats.org/drawingml/2006/main">
              <a:ext uri="{FF2B5EF4-FFF2-40B4-BE49-F238E27FC236}">
                <a16:creationId xmlns:a16="http://schemas.microsoft.com/office/drawing/2014/main" id="{21DE3D65-A4FC-4519-BAFC-EF2074343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2895600" cy="150495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22313A"/>
          </a:solidFill>
          <a:ln xmlns:a="http://schemas.openxmlformats.org/drawingml/2006/main" w="28575">
            <a:solidFill>
              <a:srgbClr val="5CB88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0B3948-F7F1-4CA8-B58E-50EF14742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86250"/>
            <a:ext cx="609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900" b="1" i="0">
                <a:solidFill>
                  <a:srgbClr val="5CB88A"/>
                </a:solidFill>
              </a:defRPr>
            </a:pPr>
            <a:r>
              <a:rPr sz="3900" b="1" i="0">
                <a:solidFill>
                  <a:srgbClr val="5CB88A"/>
                </a:solidFill>
              </a:rPr>
              <a:t>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BB2737-CFFD-42A4-8EC4-61BAAA0D1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391025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Audience &amp; Tone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39EBA3-CA51-4617-BB00-0B14009A0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38700"/>
            <a:ext cx="1676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C4D0D4"/>
                </a:solidFill>
              </a:defRPr>
            </a:pPr>
            <a:r>
              <a:rPr sz="1125" b="0" i="0">
                <a:solidFill>
                  <a:srgbClr val="C4D0D4"/>
                </a:solidFill>
              </a:rPr>
              <a:t>Depth + stance</a:t>
            </a:r>
          </a:p>
        </p:txBody>
      </p:sp>
      <p:sp>
        <p:nvSpPr>
          <p:cNvPr id="27" name="clear-R">
            <a:extLst xmlns:a="http://schemas.openxmlformats.org/drawingml/2006/main">
              <a:ext uri="{FF2B5EF4-FFF2-40B4-BE49-F238E27FC236}">
                <a16:creationId xmlns:a16="http://schemas.microsoft.com/office/drawing/2014/main" id="{14A4787D-DC5A-480F-890A-BED45B60D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057650"/>
            <a:ext cx="2895600" cy="150495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22313A"/>
          </a:solidFill>
          <a:ln xmlns:a="http://schemas.openxmlformats.org/drawingml/2006/main" w="28575">
            <a:solidFill>
              <a:srgbClr val="AFA3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7863B8-E5C9-4C12-A3BA-BB09198A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286250"/>
            <a:ext cx="609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900" b="1" i="0">
                <a:solidFill>
                  <a:srgbClr val="AFA3FF"/>
                </a:solidFill>
              </a:defRPr>
            </a:pPr>
            <a:r>
              <a:rPr sz="3900" b="1" i="0">
                <a:solidFill>
                  <a:srgbClr val="AFA3FF"/>
                </a:solidFill>
              </a:rPr>
              <a:t>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0335A2A-0748-4CDC-8F9E-E0D256B00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391025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Role &amp; Process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9F03FE1-C3C3-445B-9E96-E88A498A4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838700"/>
            <a:ext cx="1676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C4D0D4"/>
                </a:solidFill>
              </a:defRPr>
            </a:pPr>
            <a:r>
              <a:rPr sz="1125" b="0" i="0">
                <a:solidFill>
                  <a:srgbClr val="C4D0D4"/>
                </a:solidFill>
              </a:rPr>
              <a:t>Judgment + checkpoints</a:t>
            </a:r>
          </a:p>
        </p:txBody>
      </p:sp>
      <p:sp>
        <p:nvSpPr>
          <p:cNvPr id="31" name="clear-+">
            <a:extLst xmlns:a="http://schemas.openxmlformats.org/drawingml/2006/main">
              <a:ext uri="{FF2B5EF4-FFF2-40B4-BE49-F238E27FC236}">
                <a16:creationId xmlns:a16="http://schemas.microsoft.com/office/drawing/2014/main" id="{FFF3495B-7BEC-4DDB-8D0F-172FA58A8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057650"/>
            <a:ext cx="2895600" cy="150495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22313A"/>
          </a:solidFill>
          <a:ln xmlns:a="http://schemas.openxmlformats.org/drawingml/2006/main" w="28575">
            <a:solidFill>
              <a:srgbClr val="1FB6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DC2DA5E-6C84-42E2-BDB1-271E1FEC9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286250"/>
            <a:ext cx="609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900" b="1" i="0">
                <a:solidFill>
                  <a:srgbClr val="1FB6C9"/>
                </a:solidFill>
              </a:defRPr>
            </a:pPr>
            <a:r>
              <a:rPr sz="3900" b="1" i="0">
                <a:solidFill>
                  <a:srgbClr val="1FB6C9"/>
                </a:solidFill>
              </a:rPr>
              <a:t>+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FF164CB-9D85-4232-9431-7ED223133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391025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Iterate &amp; Verify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BBC7071-4300-4C5D-960E-012B7828A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838700"/>
            <a:ext cx="1676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C4D0D4"/>
                </a:solidFill>
              </a:defRPr>
            </a:pPr>
            <a:r>
              <a:rPr sz="1125" b="0" i="0">
                <a:solidFill>
                  <a:srgbClr val="C4D0D4"/>
                </a:solidFill>
              </a:rPr>
              <a:t>Diagnose + constrain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224D565-59DF-4C83-A400-560A33314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B9C6CB"/>
                </a:solidFill>
              </a:defRPr>
            </a:pPr>
            <a:r>
              <a:rPr sz="825" b="1" i="0">
                <a:solidFill>
                  <a:srgbClr val="B9C6CB"/>
                </a:solidFill>
              </a:rPr>
              <a:t>THE SHARED MEANING LAB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D493895-980D-4CE6-B3A2-04F2587C5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F7F5EF"/>
                </a:solidFill>
              </a:defRPr>
            </a:pPr>
            <a:r>
              <a:rPr sz="900" b="1" i="0">
                <a:solidFill>
                  <a:srgbClr val="F7F5EF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33066147"/>
      </p:ext>
    </p:extLst>
  </p:cSld>
  <p:transition spd="fast" advClick="1">
    <p:fade/>
  </p:transition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">
            <a:extLst xmlns:a="http://schemas.openxmlformats.org/drawingml/2006/main">
              <a:ext uri="{FF2B5EF4-FFF2-40B4-BE49-F238E27FC236}">
                <a16:creationId xmlns:a16="http://schemas.microsoft.com/office/drawing/2014/main" id="{612D9C6E-8221-40A5-AAE6-DD0C9FAC3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1962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5D6B72"/>
                </a:solidFill>
              </a:defRPr>
            </a:pPr>
            <a:r>
              <a:rPr sz="975" b="1" i="0">
                <a:solidFill>
                  <a:srgbClr val="5D6B72"/>
                </a:solidFill>
              </a:rPr>
              <a:t>C.L.E.A.R.+ · C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FECEA1B-02C7-4B0A-ACC5-ACB39FCBB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850" b="1" i="0">
                <a:solidFill>
                  <a:srgbClr val="15222A"/>
                </a:solidFill>
              </a:defRPr>
            </a:pPr>
            <a:r>
              <a:rPr sz="2850" b="1" i="0">
                <a:solidFill>
                  <a:srgbClr val="15222A"/>
                </a:solidFill>
              </a:rPr>
              <a:t>Give the work a destination</a:t>
            </a:r>
          </a:p>
        </p:txBody>
      </p:sp>
      <p:sp>
        <p:nvSpPr>
          <p:cNvPr id="3" name="marker-C">
            <a:extLst xmlns:a="http://schemas.openxmlformats.org/drawingml/2006/main">
              <a:ext uri="{FF2B5EF4-FFF2-40B4-BE49-F238E27FC236}">
                <a16:creationId xmlns:a16="http://schemas.microsoft.com/office/drawing/2014/main" id="{8045F008-1EF4-44D3-8F79-F386379A4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5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172129"/>
                </a:solidFill>
              </a:defRPr>
            </a:pPr>
            <a:r>
              <a:rPr sz="3750" b="1">
                <a:solidFill>
                  <a:srgbClr val="172129"/>
                </a:solidFill>
              </a:rPr>
              <a:t>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0ACEC7-9B95-466C-B702-025004FEC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5222A"/>
                </a:solidFill>
              </a:defRPr>
            </a:pPr>
            <a:r>
              <a:rPr sz="1950" b="1" i="0">
                <a:solidFill>
                  <a:srgbClr val="15222A"/>
                </a:solidFill>
              </a:rPr>
              <a:t>Context &amp; Goal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f383d50fba4586"/>
          <a:srcRect xmlns:a="http://schemas.openxmlformats.org/drawingml/2006/main" l="12980" t="0" r="1298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67350" y="1314450"/>
            <a:ext cx="6115050" cy="4648200"/>
          </a:xfrm>
          <a:prstGeom xmlns:a="http://schemas.openxmlformats.org/drawingml/2006/main" prst="roundRect">
            <a:avLst>
              <a:gd name="adj" fmla="val 4918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E70A10-3A50-4B82-89EB-253418051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95600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5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129"/>
                </a:solidFill>
              </a:defRPr>
            </a:pPr>
            <a:r>
              <a:rPr sz="900" b="1">
                <a:solidFill>
                  <a:srgbClr val="172129"/>
                </a:solidFill>
              </a:rPr>
              <a:t>WORKPLACE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6C9E22-FEAB-4799-B0FF-ECCC9BBCE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57550"/>
            <a:ext cx="4495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15222A"/>
                </a:solidFill>
              </a:defRPr>
            </a:pPr>
            <a:r>
              <a:rPr sz="1275" b="0" i="0">
                <a:solidFill>
                  <a:srgbClr val="15222A"/>
                </a:solidFill>
              </a:rPr>
              <a:t>IoT logs from 500 edge nodes; 15% loss. Goal: predict bearing wear before failure.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B312E5-34AA-44FC-81BA-B01E0A71A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0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C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129"/>
                </a:solidFill>
              </a:defRPr>
            </a:pPr>
            <a:r>
              <a:rPr sz="900" b="1">
                <a:solidFill>
                  <a:srgbClr val="172129"/>
                </a:solidFill>
              </a:rPr>
              <a:t>HOME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2459F8-1303-4918-83A1-1E356BB2A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62450"/>
            <a:ext cx="4495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15222A"/>
                </a:solidFill>
              </a:defRPr>
            </a:pPr>
            <a:r>
              <a:rPr sz="1275" b="0" i="0">
                <a:solidFill>
                  <a:srgbClr val="15222A"/>
                </a:solidFill>
              </a:rPr>
              <a:t>Grandparents arrive at 18:00. Goal: clear floor and prepare clean beds.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4E792E-0E36-4DB5-8253-833C0B3A4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05400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DE5E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129"/>
                </a:solidFill>
              </a:defRPr>
            </a:pPr>
            <a:r>
              <a:rPr sz="900" b="1">
                <a:solidFill>
                  <a:srgbClr val="172129"/>
                </a:solidFill>
              </a:rPr>
              <a:t>PARTNER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F94F7D-BE09-4A14-A9D7-58744B1CF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67350"/>
            <a:ext cx="4495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15222A"/>
                </a:solidFill>
              </a:defRPr>
            </a:pPr>
            <a:r>
              <a:rPr sz="1275" b="0" i="0">
                <a:solidFill>
                  <a:srgbClr val="15222A"/>
                </a:solidFill>
              </a:rPr>
              <a:t>Social battery is empty. Goal: a quick, quiet meal—no cooking, no dishes.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70234C-0E12-4A91-9F73-6D4B8FBF6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7B898E"/>
                </a:solidFill>
              </a:defRPr>
            </a:pPr>
            <a:r>
              <a:rPr sz="825" b="1" i="0">
                <a:solidFill>
                  <a:srgbClr val="7B898E"/>
                </a:solidFill>
              </a:rPr>
              <a:t>THE SHARED MEANING LAB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A7770F-DD96-4AC7-AFCC-4833AF708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5D6B72"/>
                </a:solidFill>
              </a:defRPr>
            </a:pPr>
            <a:r>
              <a:rPr sz="900" b="1" i="0">
                <a:solidFill>
                  <a:srgbClr val="5D6B72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79692907"/>
      </p:ext>
    </p:extLst>
  </p:cSld>
  <p:transition spd="fast" advClick="1">
    <p:fade/>
  </p:transition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">
            <a:extLst xmlns:a="http://schemas.openxmlformats.org/drawingml/2006/main">
              <a:ext uri="{FF2B5EF4-FFF2-40B4-BE49-F238E27FC236}">
                <a16:creationId xmlns:a16="http://schemas.microsoft.com/office/drawing/2014/main" id="{ED4677CA-388A-44F8-AAFE-C444F5971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1962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5D6B72"/>
                </a:solidFill>
              </a:defRPr>
            </a:pPr>
            <a:r>
              <a:rPr sz="975" b="1" i="0">
                <a:solidFill>
                  <a:srgbClr val="5D6B72"/>
                </a:solidFill>
              </a:rPr>
              <a:t>C.L.E.A.R.+ · L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DC4259B-B032-407E-9DD3-C87B60F7E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850" b="1" i="0">
                <a:solidFill>
                  <a:srgbClr val="15222A"/>
                </a:solidFill>
              </a:defRPr>
            </a:pPr>
            <a:r>
              <a:rPr sz="2850" b="1" i="0">
                <a:solidFill>
                  <a:srgbClr val="15222A"/>
                </a:solidFill>
              </a:rPr>
              <a:t>Fence the cliff edges before execution</a:t>
            </a:r>
          </a:p>
        </p:txBody>
      </p:sp>
      <p:sp>
        <p:nvSpPr>
          <p:cNvPr id="3" name="marker-L">
            <a:extLst xmlns:a="http://schemas.openxmlformats.org/drawingml/2006/main">
              <a:ext uri="{FF2B5EF4-FFF2-40B4-BE49-F238E27FC236}">
                <a16:creationId xmlns:a16="http://schemas.microsoft.com/office/drawing/2014/main" id="{6AE33CBD-06CD-41C6-B145-C3C627CBF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5E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172129"/>
                </a:solidFill>
              </a:defRPr>
            </a:pPr>
            <a:r>
              <a:rPr sz="3750" b="1">
                <a:solidFill>
                  <a:srgbClr val="172129"/>
                </a:solidFill>
              </a:rPr>
              <a:t>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F34391-59D0-4CE6-8DF7-F93F2FEC4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5222A"/>
                </a:solidFill>
              </a:defRPr>
            </a:pPr>
            <a:r>
              <a:rPr sz="1950" b="1" i="0">
                <a:solidFill>
                  <a:srgbClr val="15222A"/>
                </a:solidFill>
              </a:rPr>
              <a:t>Limits &amp; Negative Constraints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adc1d2bfbe4713"/>
          <a:srcRect xmlns:a="http://schemas.openxmlformats.org/drawingml/2006/main" l="12980" t="0" r="1298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67350" y="1314450"/>
            <a:ext cx="6115050" cy="4648200"/>
          </a:xfrm>
          <a:prstGeom xmlns:a="http://schemas.openxmlformats.org/drawingml/2006/main" prst="roundRect">
            <a:avLst>
              <a:gd name="adj" fmla="val 4918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00E842-7F32-4DBA-800E-834C4A1A3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95600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5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129"/>
                </a:solidFill>
              </a:defRPr>
            </a:pPr>
            <a:r>
              <a:rPr sz="900" b="1">
                <a:solidFill>
                  <a:srgbClr val="172129"/>
                </a:solidFill>
              </a:rPr>
              <a:t>CLOUD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65648A-9D09-4677-9B3E-3A6AC7BFB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57550"/>
            <a:ext cx="4495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15222A"/>
                </a:solidFill>
              </a:defRPr>
            </a:pPr>
            <a:r>
              <a:rPr sz="1275" b="0" i="0">
                <a:solidFill>
                  <a:srgbClr val="15222A"/>
                </a:solidFill>
              </a:rPr>
              <a:t>AWS subnet B only. Never connect production DB. Cap monthly cost at $50.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D82D26-02D3-4194-8944-D895E3851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0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C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129"/>
                </a:solidFill>
              </a:defRPr>
            </a:pPr>
            <a:r>
              <a:rPr sz="900" b="1">
                <a:solidFill>
                  <a:srgbClr val="172129"/>
                </a:solidFill>
              </a:rPr>
              <a:t>PARENTING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B000C4-BB20-47CF-A74C-16EE680E8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62450"/>
            <a:ext cx="4495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15222A"/>
                </a:solidFill>
              </a:defRPr>
            </a:pPr>
            <a:r>
              <a:rPr sz="1275" b="0" i="0">
                <a:solidFill>
                  <a:srgbClr val="15222A"/>
                </a:solidFill>
              </a:rPr>
              <a:t>Living room or yard only. Never cross the pool fence. No screens after 17:00.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7DA561-EBAC-4AFF-B227-594789F27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05400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DE5E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129"/>
                </a:solidFill>
              </a:defRPr>
            </a:pPr>
            <a:r>
              <a:rPr sz="900" b="1">
                <a:solidFill>
                  <a:srgbClr val="172129"/>
                </a:solidFill>
              </a:rPr>
              <a:t>BUSINESS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14FAFB-2AEA-459A-821F-E68E54122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67350"/>
            <a:ext cx="4495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15222A"/>
                </a:solidFill>
              </a:defRPr>
            </a:pPr>
            <a:r>
              <a:rPr sz="1275" b="0" i="0">
                <a:solidFill>
                  <a:srgbClr val="15222A"/>
                </a:solidFill>
              </a:rPr>
              <a:t>No ‘synergy’, ‘game-changer’, ‘delve’ or unverified metrics.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5D0A55-F5B0-4744-A8EB-69226E038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7B898E"/>
                </a:solidFill>
              </a:defRPr>
            </a:pPr>
            <a:r>
              <a:rPr sz="825" b="1" i="0">
                <a:solidFill>
                  <a:srgbClr val="7B898E"/>
                </a:solidFill>
              </a:rPr>
              <a:t>THE SHARED MEANING LAB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40342D-A1B2-4B61-A784-61976D98A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5D6B72"/>
                </a:solidFill>
              </a:defRPr>
            </a:pPr>
            <a:r>
              <a:rPr sz="900" b="1" i="0">
                <a:solidFill>
                  <a:srgbClr val="5D6B72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785145088"/>
      </p:ext>
    </p:extLst>
  </p:cSld>
  <p:transition spd="fast" advClick="1">
    <p:fade/>
  </p:transition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">
            <a:extLst xmlns:a="http://schemas.openxmlformats.org/drawingml/2006/main">
              <a:ext uri="{FF2B5EF4-FFF2-40B4-BE49-F238E27FC236}">
                <a16:creationId xmlns:a16="http://schemas.microsoft.com/office/drawing/2014/main" id="{2C7292D6-B148-4974-BBE3-56CAA947C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1962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5D6B72"/>
                </a:solidFill>
              </a:defRPr>
            </a:pPr>
            <a:r>
              <a:rPr sz="975" b="1" i="0">
                <a:solidFill>
                  <a:srgbClr val="5D6B72"/>
                </a:solidFill>
              </a:rPr>
              <a:t>C.L.E.A.R.+ · 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DF220D2-4B93-4965-8BF6-8067D355C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850" b="1" i="0">
                <a:solidFill>
                  <a:srgbClr val="15222A"/>
                </a:solidFill>
              </a:defRPr>
            </a:pPr>
            <a:r>
              <a:rPr sz="2850" b="1" i="0">
                <a:solidFill>
                  <a:srgbClr val="15222A"/>
                </a:solidFill>
              </a:rPr>
              <a:t>Draw the container before filling it</a:t>
            </a:r>
          </a:p>
        </p:txBody>
      </p:sp>
      <p:sp>
        <p:nvSpPr>
          <p:cNvPr id="3" name="marker-E">
            <a:extLst xmlns:a="http://schemas.openxmlformats.org/drawingml/2006/main">
              <a:ext uri="{FF2B5EF4-FFF2-40B4-BE49-F238E27FC236}">
                <a16:creationId xmlns:a16="http://schemas.microsoft.com/office/drawing/2014/main" id="{88BABDB6-7D9F-45F9-B1FD-F49663CF5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C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172129"/>
                </a:solidFill>
              </a:defRPr>
            </a:pPr>
            <a:r>
              <a:rPr sz="3750" b="1">
                <a:solidFill>
                  <a:srgbClr val="172129"/>
                </a:solidFill>
              </a:rPr>
              <a:t>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C3A7B9-FFB6-4241-83DE-0FA5A475A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5222A"/>
                </a:solidFill>
              </a:defRPr>
            </a:pPr>
            <a:r>
              <a:rPr sz="1950" b="1" i="0">
                <a:solidFill>
                  <a:srgbClr val="15222A"/>
                </a:solidFill>
              </a:rPr>
              <a:t>Expected Output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e748a2cd384a69"/>
          <a:srcRect xmlns:a="http://schemas.openxmlformats.org/drawingml/2006/main" l="12980" t="0" r="1298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67350" y="1314450"/>
            <a:ext cx="6115050" cy="4648200"/>
          </a:xfrm>
          <a:prstGeom xmlns:a="http://schemas.openxmlformats.org/drawingml/2006/main" prst="roundRect">
            <a:avLst>
              <a:gd name="adj" fmla="val 4918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760C34-32FB-4D57-9B64-431BF9F9C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95600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5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129"/>
                </a:solidFill>
              </a:defRPr>
            </a:pPr>
            <a:r>
              <a:rPr sz="900" b="1">
                <a:solidFill>
                  <a:srgbClr val="172129"/>
                </a:solidFill>
              </a:rPr>
              <a:t>FINANCE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62D15B-DA56-412A-935D-AF97AB285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57550"/>
            <a:ext cx="4495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15222A"/>
                </a:solidFill>
              </a:defRPr>
            </a:pPr>
            <a:r>
              <a:rPr sz="1275" b="0" i="0">
                <a:solidFill>
                  <a:srgbClr val="15222A"/>
                </a:solidFill>
              </a:rPr>
              <a:t>4 columns: Scenario | Base CapEx | Worst-case OpEx | NPV @ 8%. Notes ≤150 words.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16547A-E5F4-4DE3-91A8-E8E03AD0B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0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C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129"/>
                </a:solidFill>
              </a:defRPr>
            </a:pPr>
            <a:r>
              <a:rPr sz="900" b="1">
                <a:solidFill>
                  <a:srgbClr val="172129"/>
                </a:solidFill>
              </a:rPr>
              <a:t>GROCERY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944C80-21E7-4409-9118-71C2FB3E7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62450"/>
            <a:ext cx="4495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15222A"/>
                </a:solidFill>
              </a:defRPr>
            </a:pPr>
            <a:r>
              <a:rPr sz="1275" b="0" i="0">
                <a:solidFill>
                  <a:srgbClr val="15222A"/>
                </a:solidFill>
              </a:rPr>
              <a:t>Exactly 3 aisles: Produce, Dairy, Bakery. Include quantity and maximum price.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4CC72A-FAE4-44E4-8D76-36D4AE0B2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05400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DE5E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129"/>
                </a:solidFill>
              </a:defRPr>
            </a:pPr>
            <a:r>
              <a:rPr sz="900" b="1">
                <a:solidFill>
                  <a:srgbClr val="172129"/>
                </a:solidFill>
              </a:rPr>
              <a:t>PRODUCT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A01DA1-06AC-4CDB-9DEF-18518AF6F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67350"/>
            <a:ext cx="4495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15222A"/>
                </a:solidFill>
              </a:defRPr>
            </a:pPr>
            <a:r>
              <a:rPr sz="1275" b="0" i="0">
                <a:solidFill>
                  <a:srgbClr val="15222A"/>
                </a:solidFill>
              </a:rPr>
              <a:t>One page: Now, Next, Later. Exactly 3 items per section with lead and decision.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ACB052-A3DC-4052-A72E-EA9785D0E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7B898E"/>
                </a:solidFill>
              </a:defRPr>
            </a:pPr>
            <a:r>
              <a:rPr sz="825" b="1" i="0">
                <a:solidFill>
                  <a:srgbClr val="7B898E"/>
                </a:solidFill>
              </a:rPr>
              <a:t>THE SHARED MEANING LAB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265166-4614-4878-8F54-8608EA6BA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5D6B72"/>
                </a:solidFill>
              </a:defRPr>
            </a:pPr>
            <a:r>
              <a:rPr sz="900" b="1" i="0">
                <a:solidFill>
                  <a:srgbClr val="5D6B72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04993466"/>
      </p:ext>
    </p:extLst>
  </p:cSld>
  <p:transition spd="fast" advClick="1">
    <p:fade/>
  </p:transition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">
            <a:extLst xmlns:a="http://schemas.openxmlformats.org/drawingml/2006/main">
              <a:ext uri="{FF2B5EF4-FFF2-40B4-BE49-F238E27FC236}">
                <a16:creationId xmlns:a16="http://schemas.microsoft.com/office/drawing/2014/main" id="{7269F707-04BD-44E4-A02F-1C85F2417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1962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5D6B72"/>
                </a:solidFill>
              </a:defRPr>
            </a:pPr>
            <a:r>
              <a:rPr sz="975" b="1" i="0">
                <a:solidFill>
                  <a:srgbClr val="5D6B72"/>
                </a:solidFill>
              </a:rPr>
              <a:t>C.L.E.A.R.+ · A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020EDE1-CDB0-42B5-AF8F-AF0023DDD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850" b="1" i="0">
                <a:solidFill>
                  <a:srgbClr val="15222A"/>
                </a:solidFill>
              </a:defRPr>
            </a:pPr>
            <a:r>
              <a:rPr sz="2850" b="1" i="0">
                <a:solidFill>
                  <a:srgbClr val="15222A"/>
                </a:solidFill>
              </a:rPr>
              <a:t>Calibrate the receiver, not just the message</a:t>
            </a:r>
          </a:p>
        </p:txBody>
      </p:sp>
      <p:sp>
        <p:nvSpPr>
          <p:cNvPr id="3" name="marker-A">
            <a:extLst xmlns:a="http://schemas.openxmlformats.org/drawingml/2006/main">
              <a:ext uri="{FF2B5EF4-FFF2-40B4-BE49-F238E27FC236}">
                <a16:creationId xmlns:a16="http://schemas.microsoft.com/office/drawing/2014/main" id="{732BBC70-A08D-4038-B96E-DC2F49406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F3E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172129"/>
                </a:solidFill>
              </a:defRPr>
            </a:pPr>
            <a:r>
              <a:rPr sz="3750" b="1">
                <a:solidFill>
                  <a:srgbClr val="172129"/>
                </a:solidFill>
              </a:rPr>
              <a:t>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1C71B0-F911-445C-B4A0-0EB8B776C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5222A"/>
                </a:solidFill>
              </a:defRPr>
            </a:pPr>
            <a:r>
              <a:rPr sz="1950" b="1" i="0">
                <a:solidFill>
                  <a:srgbClr val="15222A"/>
                </a:solidFill>
              </a:rPr>
              <a:t>Audience &amp; Tone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2bfc65a7984203"/>
          <a:srcRect xmlns:a="http://schemas.openxmlformats.org/drawingml/2006/main" l="12980" t="0" r="1298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67350" y="1314450"/>
            <a:ext cx="6115050" cy="4648200"/>
          </a:xfrm>
          <a:prstGeom xmlns:a="http://schemas.openxmlformats.org/drawingml/2006/main" prst="roundRect">
            <a:avLst>
              <a:gd name="adj" fmla="val 4918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B27613-774C-4694-989C-71DF5910B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95600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5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129"/>
                </a:solidFill>
              </a:defRPr>
            </a:pPr>
            <a:r>
              <a:rPr sz="900" b="1">
                <a:solidFill>
                  <a:srgbClr val="172129"/>
                </a:solidFill>
              </a:rPr>
              <a:t>INCIDENT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2AE52F-19D3-44BF-BB9A-06B25C297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57550"/>
            <a:ext cx="4495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15222A"/>
                </a:solidFill>
              </a:defRPr>
            </a:pPr>
            <a:r>
              <a:rPr sz="1275" b="0" i="0">
                <a:solidFill>
                  <a:srgbClr val="15222A"/>
                </a:solidFill>
              </a:rPr>
              <a:t>200 nontechnical staff. Calm, accountable, jargon-free. Acknowledge the outage first.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C2B1B9-C3AD-4026-80E5-D95BE7991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0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C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129"/>
                </a:solidFill>
              </a:defRPr>
            </a:pPr>
            <a:r>
              <a:rPr sz="900" b="1">
                <a:solidFill>
                  <a:srgbClr val="172129"/>
                </a:solidFill>
              </a:rPr>
              <a:t>CHILD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7002BC-2C18-489A-B33A-34787D327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62450"/>
            <a:ext cx="4495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15222A"/>
                </a:solidFill>
              </a:defRPr>
            </a:pPr>
            <a:r>
              <a:rPr sz="1275" b="0" i="0">
                <a:solidFill>
                  <a:srgbClr val="15222A"/>
                </a:solidFill>
              </a:rPr>
              <a:t>Overwhelmed 7-year-old. Direct, warm, eye-level. One visible action at a time.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1E4B4F-E7BF-4EF6-AE40-1ACA436DE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05400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DE5E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129"/>
                </a:solidFill>
              </a:defRPr>
            </a:pPr>
            <a:r>
              <a:rPr sz="900" b="1">
                <a:solidFill>
                  <a:srgbClr val="172129"/>
                </a:solidFill>
              </a:rPr>
              <a:t>PARTNER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9FE8C4-437B-4614-B9EE-A4CE430A8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67350"/>
            <a:ext cx="4495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15222A"/>
                </a:solidFill>
              </a:defRPr>
            </a:pPr>
            <a:r>
              <a:rPr sz="1275" b="0" i="0">
                <a:solidFill>
                  <a:srgbClr val="15222A"/>
                </a:solidFill>
              </a:rPr>
              <a:t>Anxious about bills. Reassuring, team-first. Review the travel fund together.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5D0087-A60A-4FA8-AD38-20366ABDE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7B898E"/>
                </a:solidFill>
              </a:defRPr>
            </a:pPr>
            <a:r>
              <a:rPr sz="825" b="1" i="0">
                <a:solidFill>
                  <a:srgbClr val="7B898E"/>
                </a:solidFill>
              </a:rPr>
              <a:t>THE SHARED MEANING LAB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5164C1-108B-4D82-A923-68C9060B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5D6B72"/>
                </a:solidFill>
              </a:defRPr>
            </a:pPr>
            <a:r>
              <a:rPr sz="900" b="1" i="0">
                <a:solidFill>
                  <a:srgbClr val="5D6B72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21680971"/>
      </p:ext>
    </p:extLst>
  </p:cSld>
  <p:transition spd="fast" advClick="1">
    <p:fade/>
  </p:transition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">
            <a:extLst xmlns:a="http://schemas.openxmlformats.org/drawingml/2006/main">
              <a:ext uri="{FF2B5EF4-FFF2-40B4-BE49-F238E27FC236}">
                <a16:creationId xmlns:a16="http://schemas.microsoft.com/office/drawing/2014/main" id="{C374FE4F-43E6-4E5D-BA98-669D32585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1962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5D6B72"/>
                </a:solidFill>
              </a:defRPr>
            </a:pPr>
            <a:r>
              <a:rPr sz="975" b="1" i="0">
                <a:solidFill>
                  <a:srgbClr val="5D6B72"/>
                </a:solidFill>
              </a:rPr>
              <a:t>C.L.E.A.R.+ · R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58AE86F-3C46-4F5F-BF3F-FD2801CBC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850" b="1" i="0">
                <a:solidFill>
                  <a:srgbClr val="15222A"/>
                </a:solidFill>
              </a:defRPr>
            </a:pPr>
            <a:r>
              <a:rPr sz="2850" b="1" i="0">
                <a:solidFill>
                  <a:srgbClr val="15222A"/>
                </a:solidFill>
              </a:rPr>
              <a:t>Assign judgment—not a costume</a:t>
            </a:r>
          </a:p>
        </p:txBody>
      </p:sp>
      <p:sp>
        <p:nvSpPr>
          <p:cNvPr id="3" name="marker-R">
            <a:extLst xmlns:a="http://schemas.openxmlformats.org/drawingml/2006/main">
              <a:ext uri="{FF2B5EF4-FFF2-40B4-BE49-F238E27FC236}">
                <a16:creationId xmlns:a16="http://schemas.microsoft.com/office/drawing/2014/main" id="{0919B2D8-0614-4EFD-B803-51DA3C5CE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E8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172129"/>
                </a:solidFill>
              </a:defRPr>
            </a:pPr>
            <a:r>
              <a:rPr sz="3750" b="1">
                <a:solidFill>
                  <a:srgbClr val="172129"/>
                </a:solidFill>
              </a:rPr>
              <a:t>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7E087E-DEB9-4127-9987-A50768E61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5222A"/>
                </a:solidFill>
              </a:defRPr>
            </a:pPr>
            <a:r>
              <a:rPr sz="1950" b="1" i="0">
                <a:solidFill>
                  <a:srgbClr val="15222A"/>
                </a:solidFill>
              </a:rPr>
              <a:t>Role &amp; Process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a92cc9a6d545bf"/>
          <a:srcRect xmlns:a="http://schemas.openxmlformats.org/drawingml/2006/main" l="12980" t="0" r="1298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67350" y="1314450"/>
            <a:ext cx="6115050" cy="4648200"/>
          </a:xfrm>
          <a:prstGeom xmlns:a="http://schemas.openxmlformats.org/drawingml/2006/main" prst="roundRect">
            <a:avLst>
              <a:gd name="adj" fmla="val 4918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7B3806-916C-4793-82CA-F5C2B5152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95600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5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129"/>
                </a:solidFill>
              </a:defRPr>
            </a:pPr>
            <a:r>
              <a:rPr sz="900" b="1">
                <a:solidFill>
                  <a:srgbClr val="172129"/>
                </a:solidFill>
              </a:rPr>
              <a:t>SECURITY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F0E314-9110-4420-842C-48A6C8A85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57550"/>
            <a:ext cx="4495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15222A"/>
                </a:solidFill>
              </a:defRPr>
            </a:pPr>
            <a:r>
              <a:rPr sz="1275" b="0" i="0">
                <a:solidFill>
                  <a:srgbClr val="15222A"/>
                </a:solidFill>
              </a:rPr>
              <a:t>Reproduce exploit → isolate route → write regression test.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1ABC61-DEE3-42BD-94BF-560EB6318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0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C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129"/>
                </a:solidFill>
              </a:defRPr>
            </a:pPr>
            <a:r>
              <a:rPr sz="900" b="1">
                <a:solidFill>
                  <a:srgbClr val="172129"/>
                </a:solidFill>
              </a:rPr>
              <a:t>TUTOR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936B09-80BC-4E3C-8223-7978325C0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62450"/>
            <a:ext cx="4495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15222A"/>
                </a:solidFill>
              </a:defRPr>
            </a:pPr>
            <a:r>
              <a:rPr sz="1275" b="0" i="0">
                <a:solidFill>
                  <a:srgbClr val="15222A"/>
                </a:solidFill>
              </a:rPr>
              <a:t>Identify variables → draw box model → ask the next question. Do not reveal the answer.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0BD0C8-9201-4020-A7C7-09D589698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05400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DE5E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129"/>
                </a:solidFill>
              </a:defRPr>
            </a:pPr>
            <a:r>
              <a:rPr sz="900" b="1">
                <a:solidFill>
                  <a:srgbClr val="172129"/>
                </a:solidFill>
              </a:rPr>
              <a:t>REPAIR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3418CD-4784-4825-842A-9C000C543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67350"/>
            <a:ext cx="4495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15222A"/>
                </a:solidFill>
              </a:defRPr>
            </a:pPr>
            <a:r>
              <a:rPr sz="1275" b="0" i="0">
                <a:solidFill>
                  <a:srgbClr val="15222A"/>
                </a:solidFill>
              </a:rPr>
              <a:t>Separate parts and labor → verify OEM numbers → classify urgent vs deferrable.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BCB61C-D74C-42C0-8633-7FD115F49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7B898E"/>
                </a:solidFill>
              </a:defRPr>
            </a:pPr>
            <a:r>
              <a:rPr sz="825" b="1" i="0">
                <a:solidFill>
                  <a:srgbClr val="7B898E"/>
                </a:solidFill>
              </a:rPr>
              <a:t>THE SHARED MEANING LAB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A2DCE7-F8E6-44FF-9607-3807FE85B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5D6B72"/>
                </a:solidFill>
              </a:defRPr>
            </a:pPr>
            <a:r>
              <a:rPr sz="900" b="1" i="0">
                <a:solidFill>
                  <a:srgbClr val="5D6B72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96958261"/>
      </p:ext>
    </p:extLst>
  </p:cSld>
  <p:transition spd="fast" advClick="1">
    <p:fade/>
  </p:transition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721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eyebrow">
            <a:extLst xmlns:a="http://schemas.openxmlformats.org/drawingml/2006/main">
              <a:ext uri="{FF2B5EF4-FFF2-40B4-BE49-F238E27FC236}">
                <a16:creationId xmlns:a16="http://schemas.microsoft.com/office/drawing/2014/main" id="{B45E9BC2-9F3A-4229-A871-BDB319C6A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1962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F7F5EF"/>
                </a:solidFill>
              </a:defRPr>
            </a:pPr>
            <a:r>
              <a:rPr sz="975" b="1" i="0">
                <a:solidFill>
                  <a:srgbClr val="F7F5EF"/>
                </a:solidFill>
              </a:rPr>
              <a:t>C.L.E.A.R.+ · +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D0D9766-C57D-4BA2-9A38-8388BE8B8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850" b="1" i="0">
                <a:solidFill>
                  <a:srgbClr val="FFFFFF"/>
                </a:solidFill>
              </a:defRPr>
            </a:pPr>
            <a:r>
              <a:rPr sz="2850" b="1" i="0">
                <a:solidFill>
                  <a:srgbClr val="FFFFFF"/>
                </a:solidFill>
              </a:rPr>
              <a:t>Refine the failing part before restarting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33CD8D-85C4-4BAE-8D79-A54A86A2F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239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C6D1D5"/>
                </a:solidFill>
              </a:defRPr>
            </a:pPr>
            <a:r>
              <a:rPr sz="1500" b="0" i="0">
                <a:solidFill>
                  <a:srgbClr val="C6D1D5"/>
                </a:solidFill>
              </a:rPr>
              <a:t>Professional prompting is debugging—not wishing harder.</a:t>
            </a:r>
          </a:p>
        </p:txBody>
      </p:sp>
      <p:sp>
        <p:nvSpPr>
          <p:cNvPr id="4" name="raw-output">
            <a:extLst xmlns:a="http://schemas.openxmlformats.org/drawingml/2006/main">
              <a:ext uri="{FF2B5EF4-FFF2-40B4-BE49-F238E27FC236}">
                <a16:creationId xmlns:a16="http://schemas.microsoft.com/office/drawing/2014/main" id="{D153B960-7556-424F-B690-C74DF141E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62150"/>
            <a:ext cx="2495550" cy="2857500"/>
          </a:xfrm>
          <a:prstGeom xmlns:a="http://schemas.openxmlformats.org/drawingml/2006/main" prst="roundRect">
            <a:avLst>
              <a:gd name="adj" fmla="val 6107"/>
            </a:avLst>
          </a:prstGeom>
          <a:solidFill xmlns:a="http://schemas.openxmlformats.org/drawingml/2006/main">
            <a:srgbClr val="25343D"/>
          </a:solidFill>
          <a:ln xmlns:a="http://schemas.openxmlformats.org/drawingml/2006/main" w="9525">
            <a:solidFill>
              <a:srgbClr val="3F50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3A7784-086E-4597-B76E-56B90F3D1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717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F36E5A"/>
                </a:solidFill>
              </a:defRPr>
            </a:pPr>
            <a:r>
              <a:rPr sz="975" b="1" i="0">
                <a:solidFill>
                  <a:srgbClr val="F36E5A"/>
                </a:solidFill>
              </a:rPr>
              <a:t>RAW OUTPUT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E06AF7-BC5B-44D8-864F-F22B18791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57475"/>
            <a:ext cx="2057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“Our revolutionary synergy will delve into...”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F585DF-63D2-4ED7-9A40-B801142FC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05225"/>
            <a:ext cx="1866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36E5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71ACA9-2F30-4ABE-A07D-03319F13F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7192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CFD8DB"/>
                </a:solidFill>
              </a:defRPr>
            </a:pPr>
            <a:r>
              <a:rPr sz="1125" b="0" i="0">
                <a:solidFill>
                  <a:srgbClr val="CFD8DB"/>
                </a:solidFill>
              </a:rPr>
              <a:t>Defect: tone + banned words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B9FAE7-B09D-43AF-805D-3806262E4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5143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464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D67F82-1747-4BB8-B92C-14BC16A00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48000"/>
            <a:ext cx="5143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464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65201C-F277-4458-B031-6BF3025B2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5143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464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debug-DIAGNOSE">
            <a:extLst xmlns:a="http://schemas.openxmlformats.org/drawingml/2006/main">
              <a:ext uri="{FF2B5EF4-FFF2-40B4-BE49-F238E27FC236}">
                <a16:creationId xmlns:a16="http://schemas.microsoft.com/office/drawing/2014/main" id="{67C5F722-FE9D-45B4-96DD-93A91BCD6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0980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6E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9D94F1-3DC9-4E1A-8F8B-76B172A9C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09800"/>
            <a:ext cx="76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850" b="1" i="0">
                <a:solidFill>
                  <a:srgbClr val="172129"/>
                </a:solidFill>
              </a:defRPr>
            </a:pPr>
            <a:r>
              <a:rPr sz="2850" b="1" i="0">
                <a:solidFill>
                  <a:srgbClr val="172129"/>
                </a:solidFill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268508-3DC0-43C8-9562-19EEE5859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21945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DIAGNOSE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920FC6-AAA7-49A3-B0A2-4C0D73E1A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63855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C8D2D6"/>
                </a:solidFill>
              </a:defRPr>
            </a:pPr>
            <a:r>
              <a:rPr sz="1275" b="0" i="0">
                <a:solidFill>
                  <a:srgbClr val="C8D2D6"/>
                </a:solidFill>
              </a:rPr>
              <a:t>Name the defect</a:t>
            </a:r>
          </a:p>
        </p:txBody>
      </p:sp>
      <p:sp>
        <p:nvSpPr>
          <p:cNvPr id="16" name="debug-ISOLATE">
            <a:extLst xmlns:a="http://schemas.openxmlformats.org/drawingml/2006/main">
              <a:ext uri="{FF2B5EF4-FFF2-40B4-BE49-F238E27FC236}">
                <a16:creationId xmlns:a16="http://schemas.microsoft.com/office/drawing/2014/main" id="{B895AFD0-A26D-4A89-9BC3-EA4353F99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0980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6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4904AB-5689-4858-A784-797533C6A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09800"/>
            <a:ext cx="76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850" b="1" i="0">
                <a:solidFill>
                  <a:srgbClr val="172129"/>
                </a:solidFill>
              </a:defRPr>
            </a:pPr>
            <a:r>
              <a:rPr sz="2850" b="1" i="0">
                <a:solidFill>
                  <a:srgbClr val="172129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3A822E-4B64-406A-B02C-FF4B5726C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1945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ISOLATE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05CB79-D6C7-4FF7-A4D7-2BDD29E95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3855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C8D2D6"/>
                </a:solidFill>
              </a:defRPr>
            </a:pPr>
            <a:r>
              <a:rPr sz="1275" b="0" i="0">
                <a:solidFill>
                  <a:srgbClr val="C8D2D6"/>
                </a:solidFill>
              </a:rPr>
              <a:t>Quote only the failing part</a:t>
            </a:r>
          </a:p>
        </p:txBody>
      </p:sp>
      <p:sp>
        <p:nvSpPr>
          <p:cNvPr id="20" name="debug-CONSTRAIN">
            <a:extLst xmlns:a="http://schemas.openxmlformats.org/drawingml/2006/main">
              <a:ext uri="{FF2B5EF4-FFF2-40B4-BE49-F238E27FC236}">
                <a16:creationId xmlns:a16="http://schemas.microsoft.com/office/drawing/2014/main" id="{C1AEC258-897A-48B0-A847-E4240D6A0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0980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B6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419136-F049-423E-BD53-A2E982EF9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09800"/>
            <a:ext cx="76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850" b="1" i="0">
                <a:solidFill>
                  <a:srgbClr val="172129"/>
                </a:solidFill>
              </a:defRPr>
            </a:pPr>
            <a:r>
              <a:rPr sz="2850" b="1" i="0">
                <a:solidFill>
                  <a:srgbClr val="172129"/>
                </a:solidFill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F0445C-7EC1-4199-A7E6-525DB2807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21945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CONSTRAIN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C3D513-9CB7-4AD9-A846-206E123F9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63855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C8D2D6"/>
                </a:solidFill>
              </a:defRPr>
            </a:pPr>
            <a:r>
              <a:rPr sz="1275" b="0" i="0">
                <a:solidFill>
                  <a:srgbClr val="C8D2D6"/>
                </a:solidFill>
              </a:rPr>
              <a:t>Apply a local boundary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A049D9-9A50-4BD9-9B4E-2B793AC15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933950"/>
            <a:ext cx="40005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129"/>
                </a:solidFill>
              </a:defRPr>
            </a:pPr>
            <a:r>
              <a:rPr sz="1125" b="1">
                <a:solidFill>
                  <a:srgbClr val="172129"/>
                </a:solidFill>
              </a:rPr>
              <a:t>FIX THE SMALLEST FAILING PART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0B6394-20A7-4418-8C67-8C1662387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581650"/>
            <a:ext cx="647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F5B647"/>
                </a:solidFill>
              </a:defRPr>
            </a:pPr>
            <a:r>
              <a:rPr sz="1500" b="1" i="0">
                <a:solidFill>
                  <a:srgbClr val="F5B647"/>
                </a:solidFill>
              </a:rPr>
              <a:t>Then verify the repaired output against the original goal.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9F61A7-0641-41D0-A980-5F58D0AFE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B9C6CB"/>
                </a:solidFill>
              </a:defRPr>
            </a:pPr>
            <a:r>
              <a:rPr sz="825" b="1" i="0">
                <a:solidFill>
                  <a:srgbClr val="B9C6CB"/>
                </a:solidFill>
              </a:rPr>
              <a:t>THE SHARED MEANING LAB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C48471-5AFA-4FB4-AD33-58E57423F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F7F5EF"/>
                </a:solidFill>
              </a:defRPr>
            </a:pPr>
            <a:r>
              <a:rPr sz="900" b="1" i="0">
                <a:solidFill>
                  <a:srgbClr val="F7F5EF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128084675"/>
      </p:ext>
    </p:extLst>
  </p:cSld>
  <p:transition spd="fast" advClick="1">
    <p:fade/>
  </p:transition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721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3335dcfe514db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7C2AB4-472A-40A5-B222-5C6358EE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2763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01B23">
                  <a:alpha val="98000"/>
                </a:srgbClr>
              </a:gs>
              <a:gs pos="78000">
                <a:srgbClr val="101B23">
                  <a:alpha val="82000"/>
                </a:srgbClr>
              </a:gs>
              <a:gs pos="100000">
                <a:srgbClr val="101B23">
                  <a:alpha val="0"/>
                </a:srgbClr>
              </a:gs>
            </a:gsLst>
            <a:lin ang="108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96FC2BC9-6B58-4BBF-9D1D-6A982F91F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1962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F7F5EF"/>
                </a:solidFill>
              </a:defRPr>
            </a:pPr>
            <a:r>
              <a:rPr sz="975" b="1" i="0">
                <a:solidFill>
                  <a:srgbClr val="F7F5EF"/>
                </a:solidFill>
              </a:rPr>
              <a:t>ENTERPRISE SAFETY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77AB086-D699-4A04-A78F-9CC4341BD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850" b="1" i="0">
                <a:solidFill>
                  <a:srgbClr val="FFFFFF"/>
                </a:solidFill>
              </a:defRPr>
            </a:pPr>
            <a:r>
              <a:rPr sz="2850" b="1" i="0">
                <a:solidFill>
                  <a:srgbClr val="FFFFFF"/>
                </a:solidFill>
              </a:rPr>
              <a:t>The human is the accountability firewall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A04537-3941-4FDF-A7F0-BCE387C68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86375"/>
            <a:ext cx="1112520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E26">
              <a:alpha val="88000"/>
            </a:srgbClr>
          </a:solidFill>
          <a:ln xmlns:a="http://schemas.openxmlformats.org/drawingml/2006/main" w="9525">
            <a:solidFill>
              <a:srgbClr val="42515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ECAE95-BEB5-4FA5-94FC-7266F29C5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8640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1FB6C9"/>
                </a:solidFill>
              </a:defRPr>
            </a:pPr>
            <a:r>
              <a:rPr sz="975" b="1" i="0">
                <a:solidFill>
                  <a:srgbClr val="1FB6C9"/>
                </a:solidFill>
              </a:rPr>
              <a:t>MASK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858CEE-8B9A-4F3B-972B-C13A9FB04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1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3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Replace PII and secrets with placeholders.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6CDC16-619F-4D39-9707-DB402090B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48640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F5B647"/>
                </a:solidFill>
              </a:defRPr>
            </a:pPr>
            <a:r>
              <a:rPr sz="975" b="1" i="0">
                <a:solidFill>
                  <a:srgbClr val="F5B647"/>
                </a:solidFill>
              </a:rPr>
              <a:t>VERIFY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A9BB57-EE03-43CD-AB76-FB697C3DA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8102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62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Check claims against ground truth.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D1FAF8-995D-454F-890D-6D2890906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48640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F36E5A"/>
                </a:solidFill>
              </a:defRPr>
            </a:pPr>
            <a:r>
              <a:rPr sz="975" b="1" i="0">
                <a:solidFill>
                  <a:srgbClr val="F36E5A"/>
                </a:solidFill>
              </a:rPr>
              <a:t>OWN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C1929D-E045-4FB3-BED5-844AF0A79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8102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63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Humans approve, sign and carry liability.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7F9E26-CEB8-4CDF-A91C-089499B41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B9C6CB"/>
                </a:solidFill>
              </a:defRPr>
            </a:pPr>
            <a:r>
              <a:rPr sz="825" b="1" i="0">
                <a:solidFill>
                  <a:srgbClr val="B9C6CB"/>
                </a:solidFill>
              </a:rPr>
              <a:t>THE SHARED MEANING LAB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BCEA11-9CA9-4D18-AE26-AB53CFEBD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F7F5EF"/>
                </a:solidFill>
              </a:defRPr>
            </a:pPr>
            <a:r>
              <a:rPr sz="900" b="1" i="0">
                <a:solidFill>
                  <a:srgbClr val="F7F5EF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902468923"/>
      </p:ext>
    </p:extLst>
  </p:cSld>
  <p:transition spd="fast" advClick="1">
    <p:fade/>
  </p:transition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721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327cda1203488f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1606D7-2105-4032-9D0F-E7C059435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38175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0191F">
                  <a:alpha val="98000"/>
                </a:srgbClr>
              </a:gs>
              <a:gs pos="70000">
                <a:srgbClr val="10191F">
                  <a:alpha val="89000"/>
                </a:srgbClr>
              </a:gs>
              <a:gs pos="100000">
                <a:srgbClr val="10191F">
                  <a:alpha val="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322945B6-E162-4F99-9B79-9ECC8C9D8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1962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F7F5EF"/>
                </a:solidFill>
              </a:defRPr>
            </a:pPr>
            <a:r>
              <a:rPr sz="975" b="1" i="0">
                <a:solidFill>
                  <a:srgbClr val="F7F5EF"/>
                </a:solidFill>
              </a:rPr>
              <a:t>SEVEN-DAY COMMITMENT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421717-469A-470E-AFFE-28257E797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4953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900" b="1" i="0">
                <a:solidFill>
                  <a:srgbClr val="FFFFFF"/>
                </a:solidFill>
              </a:defRPr>
            </a:pPr>
            <a:r>
              <a:rPr sz="3900" b="1" i="0">
                <a:solidFill>
                  <a:srgbClr val="FFFFFF"/>
                </a:solidFill>
              </a:rPr>
              <a:t>Make intent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3900" b="1" i="0">
                <a:solidFill>
                  <a:srgbClr val="FFFFFF"/>
                </a:solidFill>
              </a:defRPr>
            </a:pPr>
            <a:r>
              <a:rPr sz="3900" b="1" i="0">
                <a:solidFill>
                  <a:srgbClr val="FFFFFF"/>
                </a:solidFill>
              </a:rPr>
              <a:t>observable.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92513C-BB1D-4FE7-A175-3C07757B8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00300"/>
            <a:ext cx="46482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 i="0">
                <a:solidFill>
                  <a:srgbClr val="F7F5EF"/>
                </a:solidFill>
              </a:defRPr>
            </a:pPr>
            <a:r>
              <a:rPr sz="1875" b="1" i="0">
                <a:solidFill>
                  <a:srgbClr val="F7F5EF"/>
                </a:solidFill>
              </a:rPr>
              <a:t>Communication is not what leaves your mouth or keyboard. It is what the receiver can reconstruct and execute.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C76E3E-0F1E-4A82-A91E-5034483E0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76700"/>
            <a:ext cx="8382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B6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2129"/>
                </a:solidFill>
              </a:defRPr>
            </a:pPr>
            <a:r>
              <a:rPr sz="825" b="1">
                <a:solidFill>
                  <a:srgbClr val="172129"/>
                </a:solidFill>
              </a:rPr>
              <a:t>FRONT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11E4E8-1F45-4AA8-9EBC-611081B13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0767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FFFFFF"/>
                </a:solidFill>
              </a:defRPr>
            </a:pPr>
            <a:r>
              <a:rPr sz="1275" b="0" i="0">
                <a:solidFill>
                  <a:srgbClr val="FFFFFF"/>
                </a:solidFill>
              </a:rPr>
              <a:t>C.L.E.A.R.+ checklist + negative constraints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7DE8CC-08F0-4C89-BDD3-FEE8C9A7C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8382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B64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2129"/>
                </a:solidFill>
              </a:defRPr>
            </a:pPr>
            <a:r>
              <a:rPr sz="825" b="1">
                <a:solidFill>
                  <a:srgbClr val="172129"/>
                </a:solidFill>
              </a:rPr>
              <a:t>BACK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174E25-0349-4E40-91FC-58621E6A5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6291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FFFFFF"/>
                </a:solidFill>
              </a:defRPr>
            </a:pPr>
            <a:r>
              <a:rPr sz="1275" b="0" i="0">
                <a:solidFill>
                  <a:srgbClr val="FFFFFF"/>
                </a:solidFill>
              </a:rPr>
              <a:t>Diagnose → Isolate → Constrain + zero-trust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1A5709-CBC8-4C5F-B079-BB9E36C10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10200"/>
            <a:ext cx="2286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6E5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MY 7-DAY COMMITMENT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5AF5A8-F420-4754-BCDF-DC4984557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4292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I will make one recurring request observable.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468D40-F300-4DBE-AD68-3CB02902A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B9C6CB"/>
                </a:solidFill>
              </a:defRPr>
            </a:pPr>
            <a:r>
              <a:rPr sz="825" b="1" i="0">
                <a:solidFill>
                  <a:srgbClr val="B9C6CB"/>
                </a:solidFill>
              </a:rPr>
              <a:t>THE SHARED MEANING LAB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C50115-A857-447E-858D-BCF4E09B6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F7F5EF"/>
                </a:solidFill>
              </a:defRPr>
            </a:pPr>
            <a:r>
              <a:rPr sz="900" b="1" i="0">
                <a:solidFill>
                  <a:srgbClr val="F7F5EF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420540717"/>
      </p:ext>
    </p:extLst>
  </p:cSld>
  <p:transition spd="fast" advClick="1">
    <p:fade/>
  </p:transition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2026-08-25T12:54:39.7660000Z</dcterms:created>
  <dcterms:modified xsi:type="dcterms:W3CDTF">2026-08-25T12:54:39.7660000Z</dcterms:modified>
</coreProperties>
</file>